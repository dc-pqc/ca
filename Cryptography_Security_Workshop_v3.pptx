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Workshop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Understanding Encryption · Digital Signatures · Hashing · TLS/SSL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Cryptography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43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Hashing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HMAC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Digital Signature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AES-GCM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5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CBC Vulnerabilities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TLS vs SSL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01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Payload Encryption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Team Workshop · Security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</a:rPr>
              <a:t>Workshop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Cryptography Fundamentals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Symmetric &amp; Asymmetric, Key concepts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Hashing &amp; HMAC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SHA-256, HMAC authentication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Digital Signatures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RSA, ECDSA, PKI basics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AES-GCM vs CBC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Modes of operation, vulnerabilities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Payload Encryption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JWE, request/response encryption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TLS vs SSL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Handshake, certificates, versions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Cryptography Fundamentals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784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Symmetric Encryption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Same key for encrypt &amp; decrypt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Fast — ideal for large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Key distribution is the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Examples: AES, DES, 3DES, ChaCha20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Use case: Encrypting files, databases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784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Asymmetric Encryption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Public key encrypts, private decrypts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Slower — used for small data/keys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Solves key distribution problem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127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Examples: RSA, ECC, ElGamal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Use case: TLS handshake, signing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CD34D"/>
                </a:solidFill>
              </a:rPr>
              <a:t>Key Insight: Modern systems combine both — Asymmetric to exchange keys, Symmetric to encrypt data (Hybrid Encryption)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Hashing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One-way function: converts any input into a fixed-size output (digest). Cannot be reversed.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716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(any size)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353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13716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353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13716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(fixed size)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8595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21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SHA-256("Hello") → 185f8db32921bd46d35...b7a7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Deterministic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Same input always gives same 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One-Way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Cannot reverse hash to get input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84048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Avalanche Effect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1-bit change → completely different hash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8404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84048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Collision Resistant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Hard to find two inputs with same hash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HMAC — Hash-based Message Authentication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What is HMAC?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HMAC combines a secret key with a hash function to create a Message Authentication Code.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It verifies BOTH: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  ✓  Data integrity (not tampered)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  ✓  Authentication (sender has the key)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Formula: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HMAC(K, m) = H((K' ⊕ opad) || H((K' ⊕ ipad) || m))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HMAC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  Message + Secret Key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947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21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  XOR with ipad / opad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587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61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 Apply Hash Function (e.g. SHA-256)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01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  HMAC Output (tag)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679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4023360"/>
            <a:ext cx="3840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  Compare tags to verify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Digital Signatures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41148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869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✍  SIGNING  (Sender)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1.  Hash the message (e.g. SHA-256)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2.  Encrypt hash with PRIVATE key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89504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352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3.  Attach signature to message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48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4.  Send message + signature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6868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VERIFYING  (Receiver)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463040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1.  Hash the received message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176272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2.  Decrypt signature with PUBLIC key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889504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9352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3.  Compare both hashes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602736"/>
            <a:ext cx="38404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648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4.  Match = Valid! Mismatch = Tampered!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AES Modes: GCM vs CBC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2062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AES-GCM  (Recommended)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Authenticated Encryption (AEAD)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Provides confidentiality + integrity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Generates Authentication Tag (16 bytes)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072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Detects tampering automatically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84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Parallelizable — very fast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Unique IV (nonce) per encryption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20624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32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AES-CBC  (Has Vulnerabilities)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Encryption only — NO integrity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Sequential blocks — slower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Requires padding (PKCS#7)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72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</a:rPr>
              <a:t>⚠ PADDING ORACLE attacks possible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</a:rPr>
              <a:t>⚠ BEAST attack (TLS 1.0 + CBC)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Must use separate MAC for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AES-GCM: Code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4114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86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Python (cryptography library)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cryptography.hazmat.primitives.ciphers.aead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AESGCM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256-bit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os.urandom(32)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unique 12-byte nonce (IV)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= os.urandom(12)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Additional data (authenticated, not encrypted)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aad = b"header-data"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cipher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aesgcm = AESGCM(key)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ENCRYPT → ciphertext + 16-byte auth 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 = aesgcm.encrypt(nonce, b"secret msg", aad)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DECRYPT (raises exception if tag invalid)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 = aesgcm.decrypt(nonce, ciphertext, aad)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86868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868680"/>
            <a:ext cx="32918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886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GCM Output 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41732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41732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Nonce / IV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12 bytes — unique per encryption. Never reuse!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24028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240280"/>
            <a:ext cx="73152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267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Ciphertext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Encrypted data (same length as plaintext)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306324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063240"/>
            <a:ext cx="73152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Auth Tag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16 bytes — verifies integrity. Decryption fails if tampered!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388620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886200"/>
            <a:ext cx="73152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Additional Authenticated Data — signed but NOT encrypted (e.g. headers)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⚠  CBC Vulnerabilities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🩹 Padding Oracle Attack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Attacker modifies ciphertext blocks and observes server responses to determine if padding is valid. This leaks information about the plaintext — byte by byte!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CVE Examples: Lucky13, POODLE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Impact: Full plaintext recovery possible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🦁 BEAST Attack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Browser Exploit Against SSL/TLS. Affects TLS 1.0 + CBC. The predictable IV allows a MITM attacker to decrypt HTTPS cookies.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Fixed in TLS 1.1+ (random IV)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Impact: Session hijacking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315468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3154680"/>
            <a:ext cx="4206240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172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⚡ Bit-Flipping Attack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 CBC, flipping bits in ciphertext block N will predictably flip corresponding bits in plaintext block N+1.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Allows modifying plaintext without decrypting!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54680"/>
            <a:ext cx="42062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172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Mitigations &amp; Best Practices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Use AES-GCM instead of AES-CBC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Always add MAC-then-Encrypt or use AEAD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Use TLS 1.2+ (disable CBC in TLS 1.0/1.1)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Never reuse IV/nonce values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Payload Encryption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Encrypting the HTTP request/response body — beyond what TLS provides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87782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encrypt payloads if we have TLS?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TLS secures transport only. Terminate TLS at load balancer → payload exposed internally. Payload encryption adds end-to-end protection.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9202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2024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385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JWE (JSON Web Encryption)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Structure: header.key.iv.ciphertext.tag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Algorithms: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  Key wrap: RSA-OAEP, A256KW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  Content: A256GCM, A128CBC-HS256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Used in: OpenID Connect, FAPI APIs, banking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385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Practices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450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Use AES-256-GCM for content encryption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8254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Rotate keys regularly (KMS/Vault)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Include request ID in AAD to prevent replay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5753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Validate auth tag before processing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9502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Combine with TLS (defense in depth)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4325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Log decryption failures as security events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TLS vs SSL — What's the Difference?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9509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9509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Never released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95097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Serious design flaws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49047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490472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527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5270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DROWN attack, weak ciphers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066544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3.0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1031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103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21031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POODLE attack, CBC vuln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642616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642616"/>
            <a:ext cx="73152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91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26791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267919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BEAST, POODLE, no strong ciphers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218688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218688"/>
            <a:ext cx="73152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552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32552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2552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325526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Deprecated 2021, use TLS 1.2+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82880" y="379476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794760"/>
            <a:ext cx="73152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313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83133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38313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ACCEPTED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83133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AES-GCM, SHA-256, AEAD support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2880" y="437083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4370832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407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320" y="44074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2018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94560" y="44074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✓✓ RECOMMENDED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60520" y="44074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0-RTT, fewer cipher suites, forward secrecy by default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TLS 1.3 Handshake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32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932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371600"/>
            <a:ext cx="0" cy="347472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371600"/>
            <a:ext cx="0" cy="34747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4447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ClientHello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(supported ciphers, key share)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26680" y="1517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2286000"/>
            <a:ext cx="67665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0574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208483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ServerHello +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+ Finished (encrypted)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017520"/>
            <a:ext cx="676656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7889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28163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Finished (encrypted)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93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↔  Application Data  (TLS connection established!)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TLS 1.3 advantage: Only 1 round-trip (1-RTT) vs TLS 1.2's 2-RTT. 0-RTT for resumption.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418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Encryption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96012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AES-256-GCM (symmetric), RSA-2048+ / ECDSA P-256 (asymmetric)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49047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17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#️⃣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536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Hashing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53619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SHA-256 or SHA-3. Never MD5 or SHA-1 for security purposes.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9397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1122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HMAC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11226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HMAC-SHA256 for message authentication. Key size ≥ 256 bits.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642616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700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6883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Digital Sig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268833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RSA-PSS or ECDSA. Always verify before trusting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218688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2461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2644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AES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26440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 GCM. Avoid CBC unless paired with HMAC. Never reuse nonce!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379476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8221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384048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Enforce TLS 1.2 minimum. Prefer TLS 1.3. Disable SSL + TLS 1.0/1.1.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437083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3982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416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Payload Enc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48840" y="441655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JWE with A256GCM. Use request IDs in AAD to prevent replay attacks.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🛠  Workshop Time!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2704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453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Generate AES-GCM key, encrypt and decrypt a payload in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67128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85416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Compute SHA-256 and HMAC-SHA256 of a message with a secret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25496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25496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43784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Create and verify a digital signature using RSA or ECDSA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83864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02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Demonstrate a Padding Oracle on a simple CBC-encrypted string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42232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42232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6052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788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Inspect a TLS 1.3 handshake using Wireshark or openssl s_client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GCP Secret Manager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Centralized, encrypted secret storage on Google Cloud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06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Can You Store?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API Keys &amp; OAuth tokens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Database credentials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9476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TLS private keys &amp; certificates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176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Encryption keys &amp; HMAC secrets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420624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24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904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Automatic replication &amp; high availability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IAM-based access control per secret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9476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Versioning &amp; automatic secret rotation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Full audit logs via Cloud Audit Logs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2542032"/>
            <a:ext cx="502920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569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Python — Access a Secret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2889504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google.cloud import secretmanager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secretmanager.SecretManagerServiceClient()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latest version of a secret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"projects/MY_PROJECT/secrets/db-password/versions/latest"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client.access_secret_version(request={"name": name})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secret_value = response.payload.data.decode("UTF-8")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it — NEVER log it!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2542032"/>
            <a:ext cx="35661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2542032"/>
            <a:ext cx="356616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Practices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Never hardcode secrets in source 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346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Use Workload Identity, not SA keys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Enable secret rotation alerts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968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Grant minimum IAM access roles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42793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Audit secret access regularly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4590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Separate secrets per environment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502920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⚠  Never log or print secret values — treat them exactly like passwords.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</a:rPr>
              <a:t>Certificate Management &amp; CSR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How TLS certificates are created, signed, and managed correctly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1572768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Private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openssl genrsa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-out private.key 4096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NEVER share this!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19072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56816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56816" y="1051560"/>
            <a:ext cx="15727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Create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CSR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openssl req -new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-key private.key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-out request.csr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93008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30752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30752" y="1051560"/>
            <a:ext cx="1572768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85616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Submit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to 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85616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Send CSR to: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DigiCert / Let's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Encrypt / GCP 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66944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04688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4688" y="1051560"/>
            <a:ext cx="1572768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59552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Receive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Certificate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9552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 signs CSR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Issues .crt 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Contains public key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78624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78624" y="1051560"/>
            <a:ext cx="15727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33488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&amp; Renew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33488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Install cert + key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 auto-renewal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(90-day certs)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063240"/>
            <a:ext cx="4206240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081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What's Inside a CSR?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" y="35478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CN (Common Name): api.example.com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3803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SAN: Subject Alternative Names (multi-domain)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0599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O / OU: Organization &amp; Department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43159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Public Key: Derived from your private key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" y="4572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Signature: Proves possession of private key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063240"/>
            <a:ext cx="420624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081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Private Key Rules — Critical!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35478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NEVER include in code repositories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803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NEVER send with CSR or to anyone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40599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Store in HSM, Vault, or Secret Manager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43159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Restrict file permissions: chmod 400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4572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If breached → revoke certificate IMMEDIATELY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🚨  Private Key Breach — What Happens?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834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8346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🕵️  Man-in-the-Middle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Attacker impersonates your server with the stolen key. All TLS traffic can be intercepted and decrypted in real-time — completely invisible to users.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145536"/>
            <a:ext cx="265176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145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Full traffic decryption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834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22960"/>
            <a:ext cx="28346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412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📼  Retrospective Decryption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353312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Without TLS forward secrecy, an attacker who recorded past encrypted traffic can now decrypt it all using the leaked private key.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3145536"/>
            <a:ext cx="265176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3145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Historical data exposure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822960"/>
            <a:ext cx="2834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822960"/>
            <a:ext cx="2834640" cy="457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8412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🎭  Server Impersonation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1353312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Attacker hosts a fake server with your valid certificate. Users see no browser warnings — the connection is fully trusted by all clients.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3145536"/>
            <a:ext cx="2651760" cy="1828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3145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Credential theft &amp; fraud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456432"/>
            <a:ext cx="8778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474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🚨  INCIDENT RESPONSE TIMELINE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T+0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Revoke cert immediately (OCSP/CRL)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56816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T+1h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Generate new private key &amp; CSR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30752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T+2h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85616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Issue new cert from CA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4688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T+3h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Deploy new cert, rotate all secrets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78624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T+4h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33488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Audit logs &amp; notify affected parties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Demo: openssl verify cert | simulate MITM with mitmproxy | check OCSP revocation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</a:rPr>
              <a:t>Demo: Private Key Breach 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206240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1 — Key Exposure 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261872"/>
            <a:ext cx="40599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private key matches certificate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x509 -noout -modulus -in cert.crt | md5sum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rsa  -noout -modulus -in private.key | md5sum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Matching hashes = correct key/cert pair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git history for leaked keys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--all --full-history -- "*.key" "*.pem"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trufflehog git file://. --only-verified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42062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2 — Revocation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40599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OCSP revocation status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ocsp -issuer chain.crt -cert cert.crt 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-url http://ocsp.example.com -resp_text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full certificate chain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verify -CAfile ca-bundle.crt cert.crt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cert expiry date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x509 -enddate -noout -in cert.crt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82880" y="299923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999232"/>
            <a:ext cx="420624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3 — MITM with mitmproxy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" y="3456432"/>
            <a:ext cx="40599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Intercept TLS with stolen key + cert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mitmdump --cert leaked_private.key 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--cert leaked_cert.pem --mode transparent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 sees valid cert — NO warning shown!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Attacker sees ALL plaintext traffic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secrecy (TLS 1.3) would prevent this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54880" y="299923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99232"/>
            <a:ext cx="420624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Prevention Checklist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930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Use TLS 1.3 (forward secrecy by default)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7398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Store private keys in HSM / Secret Manager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98678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Add *.key and *.pem to .gitignore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42336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Run secret scanners in CI/CD pipelines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4480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Enable Certificate Transparency monitoring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7274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Use short-lived certs (90 days) + auto-renew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Document Authors &amp; Reviewers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20624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6868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86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✍  Authors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8132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961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 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755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Security Engineer  |  InfoSec Team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603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7860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 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Cloud Architect  |  Platform 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75304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3931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5760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 Name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Lead Developer  |  Engineering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20624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86868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886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Reviewers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1417320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481328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49961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Reviewer Name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1755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CISO  |  Security Leadership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496312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560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57860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692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Reviewer Name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Security Architect  |  InfoSec Team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575304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3639312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65760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66928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Reviewer Name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Compliance Officer  |  Legal &amp;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347472"/>
            <a:ext cx="3474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365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500" kern="0" dirty="0">
                <a:solidFill>
                  <a:srgbClr val="FFFFFF"/>
                </a:solidFill>
              </a:rPr>
              <a:t>abcAI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Information Security 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Securing the future of intelligent 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208483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217627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220370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Secure SDLC, code review, SAST/DAST, threat modeling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08483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17627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40680" y="220370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GCP IAM, VPC controls, Secret Manager, SCC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31927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" y="341071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4381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Cryptography &amp; PKI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Key management, certificate lifecycle, encryption standards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31927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41071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34381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 &amp;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ISO 27001, SOC 2, GDPR, vulnerability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📧  infosec@abcai.com   |   🌐  security.abcai.com   |   💬  #infosec-team (Slack)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Keys — Best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API keys are credentials — treat them with the same care as passwords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0624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DO — Best Practices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36192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 in Secret Manager / Vault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Never in code, config files, or env vars checked into git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66544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Scope to minimum permissions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Each key should only access what it absolutely needs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96896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96896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Set expiry &amp; rotate regularly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Rotate every 90 days; use short-lived tokens where possible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27248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45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Restrict by IP / referrer / API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GCP: set API restrictions on which APIs key can call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57600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Monitor &amp; alert on usage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Detect anomalies: off-hours calls, unusual volume spikes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187952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87952"/>
            <a:ext cx="54864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 per-service keys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Never share one key across multiple services or environments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005840"/>
            <a:ext cx="420624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00584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0241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DON'T — Common Mistakes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1536192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153619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1554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Hardcode in source code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git history never forgets — even after deletion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066544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2066544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Put in client-side / frontend code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Browser DevTools exposes everything to anyone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2596896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2596896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 the same key everywhere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One breach = all systems compromised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92040" y="3127248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3127248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31455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 API keys in plaintext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0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Log aggregators are common attack targets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3657600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3657600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Send in URLs / query strings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Appears in server logs, browser history, proxies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92040" y="4187952"/>
            <a:ext cx="3931920" cy="475488"/>
          </a:xfrm>
          <a:prstGeom prst="rect">
            <a:avLst/>
          </a:prstGeom>
          <a:solidFill>
            <a:srgbClr val="162A4A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92040" y="418795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Skip rotation after team member leaves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2920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Former employees retain access indefinitely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82880" y="4956048"/>
            <a:ext cx="8778240" cy="256032"/>
          </a:xfrm>
          <a:prstGeom prst="rect">
            <a:avLst/>
          </a:prstGeom>
          <a:solidFill>
            <a:srgbClr val="162A4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9651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💡  Prefer OAuth 2.0 tokens or Workload Identity Federation over long-lived API keys wherever possible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</a:rPr>
              <a:t>SA Keys vs Workload Identity Federation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Why you should migrate away from service account key files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1148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Service Account Key 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572768"/>
            <a:ext cx="388620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59105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600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Long-lived credentials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17739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JSON key files are valid until manually rotated or deleted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093976"/>
            <a:ext cx="388620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11226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1214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Stored as files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22951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End up in repos, CI systems, Docker images, laptops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615184"/>
            <a:ext cx="388620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63347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64261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No binding to workload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28163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Any machine with the key can impersonate the SA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136392"/>
            <a:ext cx="388620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1546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1638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Manual rotation burden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33375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Teams forget to rotate — keys last for years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3657600"/>
            <a:ext cx="388620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67588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36850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Hard to audit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" y="3858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Difficult to know where key copies exist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0058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005840"/>
            <a:ext cx="41148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02412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Workload Identity Federation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56048" y="1572768"/>
            <a:ext cx="38862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159105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76672" y="1600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Short-lived tokens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76672" y="17739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OIDC tokens expire in hours — auto-refreshed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56048" y="2093976"/>
            <a:ext cx="38862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211226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76672" y="21214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No key files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76672" y="22951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JSON files to lose, steal, or accidentally commit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56048" y="2615184"/>
            <a:ext cx="38862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263347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76672" y="264261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Bound to workload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76672" y="28163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Only the specific pod/VM/CI pipeline can get tokens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56048" y="3136392"/>
            <a:ext cx="38862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315468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76672" y="31638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Zero rotation needed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76672" y="33375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Tokens auto-expire — no manual rotation process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56048" y="3657600"/>
            <a:ext cx="388620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92624" y="367588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76672" y="36850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Full audit trail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76672" y="3858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Every token exchange logged in Cloud Audit Logs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82880" y="4343400"/>
            <a:ext cx="877824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370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How WIF Works: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3616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Workload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(K8s Pod / VM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 GitHub Actions)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243584" y="436168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212848" y="43616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External IdP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(OIDC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from CI/CD)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182112" y="436168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151376" y="43616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GCP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Broker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(STS)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436168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089904" y="43616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Short-lived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GCP Access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Token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059168" y="436168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28432" y="43616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GCP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Call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Workload Identity Federation — Setup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Replace service account keys with keyless authentication in 4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9768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38404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3840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Create Workload Identity Pool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426464"/>
            <a:ext cx="3749040" cy="14264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463040"/>
            <a:ext cx="3639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iam workload-identity-pools create "my-pool"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--project="MY_PROJECT"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--location="global"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--display-name="My WI Pool"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9768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384048" cy="1920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05840"/>
            <a:ext cx="3840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Add OIDC Provider (e.g. GitHub Actions)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426464"/>
            <a:ext cx="3749040" cy="14264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463040"/>
            <a:ext cx="3639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iam workload-identity-pools providers create-oidc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"github-provider" --pool="my-pool"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--issuer-uri="https://token.actions.githubusercontent.com"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--attribute-mapping="google.subject=assertion.sub"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82880" y="3063240"/>
            <a:ext cx="429768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063240"/>
            <a:ext cx="384048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3063240"/>
            <a:ext cx="3840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Bind Service Account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83864"/>
            <a:ext cx="3749040" cy="14264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520440"/>
            <a:ext cx="3639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iam service-accounts add-iam-policy-binding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my-sa@MY_PROJECT.iam.gserviceaccount.com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--role="roles/iam.workloadIdentityUser"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--member="principalSet://iam.googleapis.com/projects/\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PROJECT_NUM/locations/global/workloadIdentityPools/\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my-pool/attribute.repository/MY_ORG/MY_REPO"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29768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063240"/>
            <a:ext cx="38404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63240"/>
            <a:ext cx="3840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Authenticate from GitHub Actions (zero key files)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12080" y="3483864"/>
            <a:ext cx="3749040" cy="14264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3520440"/>
            <a:ext cx="3639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google-github-actions/auth@v2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workload_identity_provider: 'projects/123/locations/\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global/workloadIdentityPools/my-pool/providers/github'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service_account: 'my-sa@MY_PROJECT.iam.gserviceaccount.com'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JSON key file needed!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F3D"/>
                </a:solidFill>
              </a:rPr>
              <a:t>Application-Level Security — The AAA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Authentication · Authorization · Accountability — the three pillars of access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2412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🪪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353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WHO are you?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73736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Verify the identity of a user, service, or device before granting access.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2286000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30428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Username + Password (basic)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2633472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6517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MFA / TOTP (Google Authenticator)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980944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99923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OAuth 2.0 / OpenID Connect (SSO)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3328416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34670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mTLS — mutual certificate auth for APIs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3675888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6941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Biometric + FIDO2 / WebAuthn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4078224"/>
            <a:ext cx="2615184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40965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F3D"/>
                </a:solidFill>
              </a:rPr>
              <a:t>Tools &amp; Platforms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" y="42793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</a:rPr>
              <a:t>Keycloak · Auth0 · Google Identity Platform · AWS Cognito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72968" y="100584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1005840"/>
            <a:ext cx="2834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102412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831336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🎫 Authorization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31336" y="1353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WHAT can you do?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82696" y="173736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Determine what resources and actions an authenticated identity is allowed to perform.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82696" y="2286000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230428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RBAC — Role-Based Access Control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82696" y="2633472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26517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ABAC — Attribute-Based Access Control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82696" y="2980944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299923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OAuth 2.0 Scopes (read:data, write:data)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82696" y="3328416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34670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OPA (Open Policy Agent) for policy-as-code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82696" y="3675888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36941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GCP IAM — least privilege principle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82696" y="4078224"/>
            <a:ext cx="2615184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9272" y="40965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Tools &amp; Platforms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19272" y="42793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</a:rPr>
              <a:t>OPA · Casbin · AWS IAM · GCP IAM · Zanzibar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63056" y="100584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63056" y="1005840"/>
            <a:ext cx="283464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102412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6821424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Accountability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21424" y="1353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WHAT did you do?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72784" y="173736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Track and log all actions so you can audit who did what, when, and from where.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72784" y="2286000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230428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Structured audit logs (who, what, when, IP)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72784" y="2633472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6517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Immutable log storage (Cloud Audit Logs)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72784" y="2980944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299923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SIEM integration for real-time alerting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72784" y="3328416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334670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Correlation IDs across microservices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72784" y="3675888"/>
            <a:ext cx="2615184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6941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Data access logs for PII / sensitive fields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72784" y="4078224"/>
            <a:ext cx="2615184" cy="658368"/>
          </a:xfrm>
          <a:prstGeom prst="rect">
            <a:avLst/>
          </a:prstGeom>
          <a:solidFill>
            <a:srgbClr val="EAF6F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40965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Tools &amp; Platforms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09360" y="427939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F3D"/>
                </a:solidFill>
              </a:rPr>
              <a:t>Cloud Audit Logs · Datadog · Splunk · ELK Stack · Chronicle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AAA — Implementation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Practical code examples for Authentication, Authorization, and Accountability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🪪  Authentication — JWT Verification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426464"/>
            <a:ext cx="405993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JWT token (FastAPI + python-jose)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jose import JWTError, jwt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get_current_user(token: str):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payload = jwt.decode(token, SECRET_KEY,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algorithms=["HS256"])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user_id = payload.get("sub")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user_id is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HTTPException(status_code=401)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user_id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JWTError: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HTTPException(status_code=401)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20624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241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🎫  Authorization — RBAC with OPA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426464"/>
            <a:ext cx="4059936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OPA policy (Rego)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authz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allow = false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input.user.role == "admin"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input.user.role == "viewer"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input.action == "read"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Deny write if not admin → implicit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944368"/>
            <a:ext cx="420624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944368"/>
            <a:ext cx="420624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9626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Accountability — Structured Audit Log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3364992"/>
            <a:ext cx="405993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structlog, uuid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structlog.get_logger()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audit_log(user_id, action, resource, status):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log.info("audit_event",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event_id=str(uuid.uuid4()),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user_id=user_id,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action=action,        # e.g. "delete"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resource=resource,    # e.g. "order/123"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status=status,        # "success" | "denied"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timestamp=datetime.utcnow().isoformat(),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ip=request.client.host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2944368"/>
            <a:ext cx="420624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944368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626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Key Implementation Rules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401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Always authenticate BEFORE authorizing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6210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Use correlation IDs across all services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8404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Fail closed — deny by default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40599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Log denials as loudly as grants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42793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Validate tokens on every request (no caching)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4498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Never trust client-supplied user IDs in body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47183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Audit logs must be tamper-proof &amp; immutable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983480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Fail Secure: When in doubt, DENY access and LOG the attempt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F3D"/>
                </a:solidFill>
              </a:rPr>
              <a:t>The CIA Triad — Foundation of Information Security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Every security control maps back to one or more of these three principles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87552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87552"/>
            <a:ext cx="283464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058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Confidentiality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137160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Core Principle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828800"/>
            <a:ext cx="26517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847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F3D"/>
                </a:solidFill>
              </a:rPr>
              <a:t>Ensure information is only accessible to those authorized to see it.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39572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Key Controls: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60604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Encryption at rest &amp; in transit (AES-GCM, TLS)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8620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Access control lists &amp; RBAC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118104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Data masking &amp; tokenization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37413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Secret Manager for credentials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694176"/>
            <a:ext cx="26517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71246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⚠ Breach Example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389534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An unencrypted S3 bucket exposes 1M customer records publicly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987552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987552"/>
            <a:ext cx="28346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0058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867912" y="10789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Integrity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67912" y="137160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Core Principle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1828800"/>
            <a:ext cx="265176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847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F3D"/>
                </a:solidFill>
              </a:rPr>
              <a:t>Ensure data is accurate and has not been altered by unauthorized parties.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64408" y="239572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Key Controls: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260604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Hashing (SHA-256) to detect changes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28620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Digital signatures on code &amp;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64408" y="3118104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HMAC for API payload signing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64408" y="337413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Audit logs &amp; change detection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694176"/>
            <a:ext cx="26517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71246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⚠ Breach Example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82696" y="389534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Attacker modifies a financial transaction amount in transit using CBC bit-flip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987552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987552"/>
            <a:ext cx="2834640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0058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6858000" y="10789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Availability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137160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Core Principle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36208" y="1828800"/>
            <a:ext cx="265176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18470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F3D"/>
                </a:solidFill>
              </a:rPr>
              <a:t>Ensure systems and data are accessible to authorized users when needed.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54496" y="239572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Key Controls: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260604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DDoS protection (Cloud Armor, WAF)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54496" y="28620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Auto-scaling &amp; load balancing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54496" y="3118104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Redundancy, backups &amp; DR plans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54496" y="337413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F3D"/>
                </a:solidFill>
              </a:rPr>
              <a:t>▸  Rate limiting &amp; circuit breakers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36208" y="3694176"/>
            <a:ext cx="265176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371246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⚠ Breach Example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72784" y="389534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</a:rPr>
              <a:t>DDoS attack takes down payment API for 4 hours — $2M revenue loss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CIA Triad — Real-World Technology Mapping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How every topic in this workshop maps to the CIA Triad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2514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966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 / Control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987552"/>
            <a:ext cx="20574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996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 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87552"/>
            <a:ext cx="2057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96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Integrity 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987552"/>
            <a:ext cx="20574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99669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Availability 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426464"/>
            <a:ext cx="2514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426464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426464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426464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146304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🔐  AES-GCM Encryption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98064" y="146304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Encrypts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01184" y="146304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Auth Tag detects tamper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04304" y="146304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1737360"/>
            <a:ext cx="25146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1737360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737360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737360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17739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#️⃣  SHA-256 Hashing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98064" y="177393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01184" y="177393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Detect file changes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4304" y="177393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048256"/>
            <a:ext cx="2514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2048256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048256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2048256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" y="208483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🔏  HMAC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98064" y="208483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01184" y="208483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Verify message auth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04304" y="208483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2359152"/>
            <a:ext cx="25146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0" y="2359152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359152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359152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" y="23957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✍  Digital Signatures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98064" y="239572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01184" y="239572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Non-repudiation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04304" y="239572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" y="2670048"/>
            <a:ext cx="2514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0" y="2670048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670048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2670048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" y="27066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🔒  TLS 1.3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98064" y="270662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Encrypts in transit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01184" y="270662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Cert validation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04304" y="270662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</a:rPr>
              <a:t>◑ HSTS preloading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2980944"/>
            <a:ext cx="25146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2980944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2980944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9440" y="2980944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30175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📦  Payload Encryption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98064" y="301752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E2E encryption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01184" y="301752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AEAD integrity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04304" y="301752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2880" y="3291840"/>
            <a:ext cx="2514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0" y="3291840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3291840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0" y="3291840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7744" y="33284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☁  GCP Secret Manager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98064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Encrypts secrets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901184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Versioned access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04304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HA replication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82880" y="3602736"/>
            <a:ext cx="25146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43200" y="3602736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46320" y="3602736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49440" y="3602736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7744" y="36393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🪪  Auth (OAuth / MFA)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98064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Identity verified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901184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004304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82880" y="3913632"/>
            <a:ext cx="2514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43200" y="3913632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3913632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49440" y="3913632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7744" y="395020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🎫  Authorization (RBAC)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98064" y="395020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Limits data access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901184" y="395020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004304" y="395020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82880" y="4224528"/>
            <a:ext cx="25146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0" y="4224528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46320" y="4224528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49440" y="4224528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7744" y="426110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📋  Audit Logs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2798064" y="426110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901184" y="426110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Detect changes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004304" y="426110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Forensic trail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82880" y="4535424"/>
            <a:ext cx="25146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0" y="4535424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846320" y="4535424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49440" y="4535424"/>
            <a:ext cx="2057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37744" y="457200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🌐  DDoS / Rate Limiting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798064" y="457200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901184" y="457200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004304" y="457200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Service uptime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82880" y="4846320"/>
            <a:ext cx="25146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0" y="4846320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846320" y="4846320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49440" y="4846320"/>
            <a:ext cx="2057400" cy="292608"/>
          </a:xfrm>
          <a:prstGeom prst="rect">
            <a:avLst/>
          </a:prstGeom>
          <a:solidFill>
            <a:srgbClr val="162A4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37744" y="488289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🔄  WIF / Key Rotation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2798064" y="488289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Reduces exposure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901184" y="488289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Limits blast radius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004304" y="488289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✓ No key expiry outage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182880" y="5065776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✓ = Primary control   ◑ = Partial contribution   (blank) = Not primary purpose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&amp; Security Workshop</dc:title>
  <dc:subject>PptxGenJS Presentation</dc:subject>
  <dc:creator>PptxGenJS</dc:creator>
  <cp:lastModifiedBy>PptxGenJS</cp:lastModifiedBy>
  <cp:revision>1</cp:revision>
  <dcterms:created xsi:type="dcterms:W3CDTF">2026-02-22T07:47:31Z</dcterms:created>
  <dcterms:modified xsi:type="dcterms:W3CDTF">2026-02-22T07:47:31Z</dcterms:modified>
</cp:coreProperties>
</file>