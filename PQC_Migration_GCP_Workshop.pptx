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"/>
            <a:ext cx="2743200" cy="505206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1828800"/>
            <a:ext cx="1645920" cy="1645920"/>
          </a:xfrm>
          <a:prstGeom prst="ellipse">
            <a:avLst/>
          </a:prstGeom>
          <a:solidFill>
            <a:srgbClr val="0B0F2A">
              <a:alpha val="0"/>
            </a:srgbClr>
          </a:solidFill>
          <a:ln w="19050">
            <a:solidFill>
              <a:srgbClr val="6C3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2103120"/>
            <a:ext cx="1097280" cy="1097280"/>
          </a:xfrm>
          <a:prstGeom prst="ellipse">
            <a:avLst/>
          </a:prstGeom>
          <a:solidFill>
            <a:srgbClr val="0B0F2A">
              <a:alpha val="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377440"/>
            <a:ext cx="548640" cy="548640"/>
          </a:xfrm>
          <a:prstGeom prst="ellipse">
            <a:avLst/>
          </a:prstGeom>
          <a:solidFill>
            <a:srgbClr val="0B0F2A">
              <a:alpha val="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62672" y="2542032"/>
            <a:ext cx="219456" cy="219456"/>
          </a:xfrm>
          <a:prstGeom prst="ellipse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17536" y="3413455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34095" y="25968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7536" y="1780337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0977" y="25968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97723" y="3177083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7349" y="3177083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7723" y="2016709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7349" y="2016709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0292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0" b="1" spc="600" kern="0" dirty="0">
                <a:solidFill>
                  <a:srgbClr val="6C3BEB"/>
                </a:solidFill>
              </a:rPr>
              <a:t>PQC</a:t>
            </a:r>
            <a:endParaRPr lang="en-US" sz="8200" dirty="0"/>
          </a:p>
        </p:txBody>
      </p:sp>
      <p:sp>
        <p:nvSpPr>
          <p:cNvPr id="17" name="Text 15"/>
          <p:cNvSpPr/>
          <p:nvPr/>
        </p:nvSpPr>
        <p:spPr>
          <a:xfrm>
            <a:off x="411480" y="16916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Post-Quantum Cryptography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22128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8BFA"/>
                </a:solidFill>
              </a:rPr>
              <a:t>Migration Strategy for GCP Teams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2788920"/>
            <a:ext cx="1298448" cy="320040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980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NIST PQC Standards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2788920"/>
            <a:ext cx="1298448" cy="320040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7980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GCP Cloud KMS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2788920"/>
            <a:ext cx="1298448" cy="320040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7980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Hybrid Cryptography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788920"/>
            <a:ext cx="1298448" cy="320040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79806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Pilot Roadmap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32735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 the quantum threat is REAL · What changes · When to act · How GCP supports you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55371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abcAI  |  InfoSec Team  |  2025–2026 Migration Initiative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F2A"/>
                </a:solidFill>
              </a:rPr>
              <a:t>Why PQC? The Quantum Threat Is Real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Current encryption will be broken by quantum computers — here's why you need to act NOW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621792"/>
          </a:xfrm>
          <a:prstGeom prst="rect">
            <a:avLst/>
          </a:prstGeom>
          <a:solidFill>
            <a:srgbClr val="0B0F2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"Harvest Now, Decrypt Later"  —  Adversaries are recording your encrypted traffic TODAY to decrypt it once quantum computers are ready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737360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737360"/>
            <a:ext cx="2834640" cy="50292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84708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3BEB"/>
                </a:solidFill>
              </a:rPr>
              <a:t>Q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470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Shor's Algorithm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" y="2322576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F2A"/>
                </a:solidFill>
              </a:rPr>
              <a:t>Breaks RSA, ECC, and Diffie-Hellman exponentially faster on a quantum computer. RSA-2048 that takes classical computers billions of years — broken in hours.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160520"/>
            <a:ext cx="2651760" cy="566928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4178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BEB"/>
                </a:solidFill>
              </a:rPr>
              <a:t>Impact: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" y="43616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ALL asymmetric crypto compromised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1737360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73736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2696" y="184708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75888" y="18470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Grover's Algorithm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82696" y="2322576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F2A"/>
                </a:solidFill>
              </a:rPr>
              <a:t>Halves the effective key length of symmetric algorithms. AES-128 becomes equivalent to AES-64 — insecure. AES-256 drops to AES-128 equivalent — still safe.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4160520"/>
            <a:ext cx="2651760" cy="566928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4178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Impact: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19272" y="43616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Symmetric keys need doubling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1737360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737360"/>
            <a:ext cx="28346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184708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65976" y="18470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Timeline Risk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72784" y="2322576"/>
            <a:ext cx="2615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0F2A"/>
                </a:solidFill>
              </a:rPr>
              <a:t>NIST estimates cryptographically-relevant quantum computers (CRQCs) could arrive between 2030–2035. Migration of enterprise systems takes 5–10 years.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4160520"/>
            <a:ext cx="2651760" cy="566928"/>
          </a:xfrm>
          <a:prstGeom prst="rect">
            <a:avLst/>
          </a:prstGeom>
          <a:solidFill>
            <a:srgbClr val="F1F5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178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Impact: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436168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F2A"/>
                </a:solidFill>
              </a:rPr>
              <a:t>Start NOW — you're already behind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NIST PQC Standards — Finalized 2024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8BFA"/>
                </a:solidFill>
              </a:rPr>
              <a:t>NIST published 3 final PQC standards in August 2024 — these are your migration targets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1261872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1417320" cy="12618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FIPS 203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" y="14447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ML-KEM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" y="1755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(CRYSTALS-Kyber)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1060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3BEB"/>
                </a:solidFill>
              </a:rPr>
              <a:t>Key Encapsulation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Replaces: RSA, ECDH key exchange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1517904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Primary algorithm for establishing shared secrets. Lattice-based (Module LWE). Replaces RSA and ECDH in TLS handshakes, API key exchange, and session establishment.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078992"/>
            <a:ext cx="2907792" cy="475488"/>
          </a:xfrm>
          <a:prstGeom prst="rect">
            <a:avLst/>
          </a:prstGeom>
          <a:solidFill>
            <a:srgbClr val="12184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097280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3BEB"/>
                </a:solidFill>
              </a:rPr>
              <a:t>Key sizes: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53328" y="1261872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ML-KEM-512 (L1) · ML-KEM-768 (L3) · ML-KEM-1024 (L5)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1645920"/>
            <a:ext cx="2907792" cy="493776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664208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GCP Status: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53328" y="18288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Available in Cloud KMS (Preview)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359152"/>
            <a:ext cx="8778240" cy="1261872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359152"/>
            <a:ext cx="1417320" cy="1261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50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FIPS 204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1168" y="27980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ML-DSA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01168" y="3108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(CRYSTALS-Dilithium)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91640" y="2414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Digital Signature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91640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Replaces: RSA-PSS, ECDSA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2871216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Primary algorithm for digital signatures. Lattice-based. Replaces ECDSA and RSA signatures on code, documents, JWTs, and certificates.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2432304"/>
            <a:ext cx="2907792" cy="475488"/>
          </a:xfrm>
          <a:prstGeom prst="rect">
            <a:avLst/>
          </a:prstGeom>
          <a:solidFill>
            <a:srgbClr val="12184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245059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Key sizes: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53328" y="261518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ML-DSA-44 (L2) · ML-DSA-65 (L3) · ML-DSA-87 (L5)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9320" y="2999232"/>
            <a:ext cx="2907792" cy="493776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3017520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GCP Status: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3328" y="31821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Roadmap — Cloud KMS 2025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3712464"/>
            <a:ext cx="8778240" cy="1261872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712464"/>
            <a:ext cx="14173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38039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FIPS 205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01168" y="41513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SLH-DSA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201168" y="4462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(SPHINCS+)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69164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Digital Signature (Backup)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91640" y="4005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Replaces: ECDSA (diversity backup)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691640" y="4224528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Hash-based signature scheme — conservative, proven security. Slower and larger than ML-DSA but based on different mathematical problem. Use for long-lived signatures (certificates, firmware).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89320" y="3785616"/>
            <a:ext cx="2907792" cy="475488"/>
          </a:xfrm>
          <a:prstGeom prst="rect">
            <a:avLst/>
          </a:prstGeom>
          <a:solidFill>
            <a:srgbClr val="1218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3803904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Key sizes: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53328" y="396849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SLH-DSA-SHA2-128s · SLH-DSA-SHAKE-128f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89320" y="4352544"/>
            <a:ext cx="2907792" cy="493776"/>
          </a:xfrm>
          <a:prstGeom prst="rect">
            <a:avLst/>
          </a:prstGeom>
          <a:solidFill>
            <a:srgbClr val="1E2D6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53328" y="437083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GCP Status: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53328" y="453542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Roadmap — future consideration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2880" y="504748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FIPS 206 (FN-DSA / Falcon) also published — primarily for constrained environments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F2A"/>
                </a:solidFill>
              </a:rPr>
              <a:t>What Breaks vs What Survives — Post-Quantum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Know which of your current algorithms will be quantum-vulnerable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87552"/>
            <a:ext cx="416052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QUANTUM-VULNERABLE  (Must Replace)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" y="157276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57276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5910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RSA (all key sizes)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17739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TLS, JWT signing, cert signing, API auth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07568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207568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09397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ECDSA / EdDSA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227685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JWT, code signing, TLS certs, SSH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57860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57860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59689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ECDH / ECDHE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277977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TLS key exchange, API session setup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308152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08152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09981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Diffie-Hellman (DH)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0624" y="328269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VPN tunnels, legacy TLS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358444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358444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60273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ElGamal encryption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0624" y="378561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Legacy PGP/GPG email encryption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" y="4087368"/>
            <a:ext cx="39319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4087368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41056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DSA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0624" y="42885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Legacy document signing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987552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987552"/>
            <a:ext cx="41605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00584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QUANTUM-SAFE  (Increase Key Size Only)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10328" y="157276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0328" y="157276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38344" y="15910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AES-256-GCM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38344" y="17739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Data encryption, payload encryption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10328" y="207568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0328" y="207568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38344" y="209397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SHA-256 / SHA-3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38344" y="227685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Hashing, integrity checks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10328" y="257860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10328" y="257860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38344" y="259689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HMAC-SHA256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38344" y="277977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Message authentication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10328" y="308152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10328" y="308152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38344" y="309981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AES-128 (upgrade to 256)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38344" y="328269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Effective key size halved by Grover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10328" y="358444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10328" y="358444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38344" y="360273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ChaCha20-Poly1305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38344" y="378561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Mobile/constrained device encryption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10328" y="4087368"/>
            <a:ext cx="39319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F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10328" y="4087368"/>
            <a:ext cx="6400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38344" y="41056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BLAKE3 / BLAKE2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38344" y="42885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Used in: High-speed hashing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GCP PQC Support — Current Status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5F3FC"/>
                </a:solidFill>
              </a:rPr>
              <a:t>What Google Cloud supports TODAY and what is on the roadmap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914400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1691640" cy="914400"/>
          </a:xfrm>
          <a:prstGeom prst="rect">
            <a:avLst/>
          </a:prstGeom>
          <a:solidFill>
            <a:srgbClr val="1218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KMS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481328"/>
            <a:ext cx="148132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48132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2A"/>
                </a:solidFill>
              </a:rPr>
              <a:t>Preview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56816" y="1060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ML-KEM-768 &amp; ML-KEM-1024 key generation &amp; wrapping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56816" y="131673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Action: Create PQC key versions via gcloud kms or 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42432" y="1060704"/>
            <a:ext cx="3127248" cy="786384"/>
          </a:xfrm>
          <a:prstGeom prst="rect">
            <a:avLst/>
          </a:prstGeom>
          <a:solidFill>
            <a:srgbClr val="080C1E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1097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kms keys create my-pqc-key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--location=global --keyring=my-ring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--purpose=ASYMMETRIC_DECRYPT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--default-algorithm=EC_SIGN_P384_SHA384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2011680"/>
            <a:ext cx="8778240" cy="914400"/>
          </a:xfrm>
          <a:prstGeom prst="rect">
            <a:avLst/>
          </a:prstGeom>
          <a:solidFill>
            <a:srgbClr val="1A225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011680"/>
            <a:ext cx="1691640" cy="914400"/>
          </a:xfrm>
          <a:prstGeom prst="rect">
            <a:avLst/>
          </a:prstGeom>
          <a:solidFill>
            <a:srgbClr val="1218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0848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Certificate Manager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487168"/>
            <a:ext cx="148132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48716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2A"/>
                </a:solidFill>
              </a:rPr>
              <a:t>Roadmap 2025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56816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Hybrid PQC + ECDSA certificates (X.509 dual-signed)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56816" y="232257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Action: Watch for managed certificate updates; plan migration of custom certs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42432" y="2066544"/>
            <a:ext cx="3127248" cy="786384"/>
          </a:xfrm>
          <a:prstGeom prst="rect">
            <a:avLst/>
          </a:prstGeom>
          <a:solidFill>
            <a:srgbClr val="080C1E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Future: request hybrid cert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certificate-manager certificates create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--domains="api.example.com"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--algorithm=HYBRID_ECDSA_ML_DSA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2880" y="3017520"/>
            <a:ext cx="8778240" cy="914400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017520"/>
            <a:ext cx="1691640" cy="914400"/>
          </a:xfrm>
          <a:prstGeom prst="rect">
            <a:avLst/>
          </a:prstGeom>
          <a:solidFill>
            <a:srgbClr val="1218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0906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Load Balancing / TLS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" y="3493008"/>
            <a:ext cx="148132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49300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2A"/>
                </a:solidFill>
              </a:rPr>
              <a:t>Preview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56816" y="3072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Hybrid PQC TLS (X25519MLKEM768) in HTTPS LBs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56816" y="332841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Action: Enable PQC cipher in SSL policies — browsers already support 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42432" y="3072384"/>
            <a:ext cx="3127248" cy="786384"/>
          </a:xfrm>
          <a:prstGeom prst="rect">
            <a:avLst/>
          </a:prstGeom>
          <a:solidFill>
            <a:srgbClr val="080C1E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3108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compute ssl-policies create pqc-policy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--profile=RESTRICTED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--min-tls-version=TLS_1_3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Chrome/Firefox already support X25519MLKEM768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4023360"/>
            <a:ext cx="8778240" cy="914400"/>
          </a:xfrm>
          <a:prstGeom prst="rect">
            <a:avLst/>
          </a:prstGeom>
          <a:solidFill>
            <a:srgbClr val="1A225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4023360"/>
            <a:ext cx="1691640" cy="914400"/>
          </a:xfrm>
          <a:prstGeom prst="rect">
            <a:avLst/>
          </a:prstGeom>
          <a:solidFill>
            <a:srgbClr val="12184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40965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HSM / Confidential Computing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2608" y="4498848"/>
            <a:ext cx="148132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4988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2A"/>
                </a:solidFill>
              </a:rPr>
              <a:t>Roadmap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56816" y="4078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Hardware-backed PQC key storage in HSM modules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56816" y="43342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Action: Plan for HSM firmware updates; evaluate Confidential VMs for key isolation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42432" y="4078224"/>
            <a:ext cx="3127248" cy="786384"/>
          </a:xfrm>
          <a:prstGeom prst="rect">
            <a:avLst/>
          </a:prstGeom>
          <a:solidFill>
            <a:srgbClr val="080C1E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97296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Confidential VM for key operations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compute instances create pqc-workload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--confidential-compute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--maintenance-policy=TERMINATE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82880" y="504748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Reference: cloud.google.com/security/products/quantum-safe-cryptography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F2A"/>
                </a:solidFill>
              </a:rPr>
              <a:t>Key Considerations Before You Migrate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Seven critical areas your team must evaluate before starting PQC migration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502920" cy="877824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1060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Cryptographic Inventory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Discover ALL algorithms in use: TLS certs, JWT signing keys, API auth, data-at-rest encryption, SSH keys, code signing, VPN tunnels. You can't migrate what you haven't found.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58952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3BEB"/>
                </a:solidFill>
              </a:rPr>
              <a:t>Action: Use: GCP Security Command Center + custom asset scan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502920" cy="8778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05840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9512" y="1060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Hybrid Mode (Run Both)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9512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Don't hard-switch. Run classical + PQC simultaneously (hybrid TLS, dual-signed certs). This ensures compatibility with systems not yet upgraded while already gaining quantum protection.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239512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</a:rPr>
              <a:t>Action: Use: X25519MLKEM768 for TLS — supported in Chrome/Firefox TODAY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1956816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956816"/>
            <a:ext cx="502920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956816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Performance Impact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" y="2249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PQC algorithms have larger key sizes and slower operations. ML-KEM keys are ~1KB vs 32 bytes for ECDH. Factor this into your API latency budgets, certificate sizes, and HSM throughput.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58952" y="2596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Action: Test: benchmark in staging before production rollout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956816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956816"/>
            <a:ext cx="502920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956816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39512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Library &amp; Dependency Support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9512" y="2249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Check if your crypto libraries support FIPS 203/204/205. OpenSSL 3.x with OQS provider, BouncyCastle 1.78+, Go 1.23+, and Google Tink support PQC. Many older libs do not.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239512" y="2596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</a:rPr>
              <a:t>Action: Audit: all SDKs, Java versions, Python cryptography library versions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2880" y="2907792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2907792"/>
            <a:ext cx="502920" cy="8778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2907792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Certificate Lifecycle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PQC certificates are larger (ML-DSA certs ~2-3x ECDSA size). Plan impacts on mTLS, CDN edge nodes, load balancers, and mobile clients with bandwidth constraints.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58952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</a:rPr>
              <a:t>Action: Plan: cert renewal timeline, CA support, chain validation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2907792"/>
            <a:ext cx="43159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907792"/>
            <a:ext cx="502920" cy="8778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907792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39512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Compliance &amp; Regulatory Timing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9512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CISA, NSA, and NIST guidance mandates PQC migration by 2030 for critical systems. Financial sector and government contractors face earlier deadlines. Know YOUR deadline.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239512" y="35478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Action: Check: OMB M-23-02, NSA CNSA 2.0, your industry regulator guidance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2880" y="3858768"/>
            <a:ext cx="8778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2880" y="3858768"/>
            <a:ext cx="502920" cy="8778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3858768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8952" y="3913632"/>
            <a:ext cx="8119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Long-Lived Data Protection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" y="41513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Data encrypted today with RSA/ECDSA that must remain confidential for 10+ years needs PQC protection NOW — adversaries are harvesting it already. Prioritize long-retention data.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5971032" y="39319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</a:rPr>
              <a:t>Action: Prioritize: PII, financial records, health data, trade secrets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Hybrid Cryptography — The Safe Migration Path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5F3FC"/>
                </a:solidFill>
              </a:rPr>
              <a:t>Run classical + PQC together — get quantum protection without breaking existing systems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8778240" cy="1920240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BEB"/>
                </a:solidFill>
              </a:rPr>
              <a:t>Hybrid TLS Key Exchange (X25519 + ML-KEM-768)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554480" cy="1298448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Hello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Offers: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X25519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ML-KEM-768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10512" y="19019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-&gt;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1417320"/>
            <a:ext cx="1554480" cy="1298448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48256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Selects: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X25519MLKEM768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hybrid suite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9584" y="19019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12464" y="1417320"/>
            <a:ext cx="1554480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Share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(Classical)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67328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ECDH shared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secret K1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(X25519)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48656" y="19019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-&gt;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31536" y="1417320"/>
            <a:ext cx="1554480" cy="129844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Share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(PQC)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ML-KEM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ciphertext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K2 (lattice)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67728" y="19019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-&gt;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50608" y="1417320"/>
            <a:ext cx="1554480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Combined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Secret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05472" y="1783080"/>
            <a:ext cx="144475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 = KDF(K1 || K2)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Breaking either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does NOT help!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017520"/>
            <a:ext cx="2852928" cy="1828800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017520"/>
            <a:ext cx="2852928" cy="38404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03580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TLS (GCP LB)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" y="349300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Classical: X25519 (ECDH)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371246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PQC: ML-KEM-768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" y="39319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Combined: X25519MLKEM768 cipher suite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251960"/>
            <a:ext cx="2670048" cy="512064"/>
          </a:xfrm>
          <a:prstGeom prst="rect">
            <a:avLst/>
          </a:prstGeom>
          <a:solidFill>
            <a:srgbClr val="12184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427939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3BEB"/>
                </a:solidFill>
              </a:rPr>
              <a:t>Available NOW in GCP HTTPS LBs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72968" y="3017520"/>
            <a:ext cx="2852928" cy="1828800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72968" y="3017520"/>
            <a:ext cx="2852928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03580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Certificate Signing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82696" y="349300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Classical: ECDSA P-256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82696" y="371246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PQC: ML-DSA-65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82696" y="39319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Combined: Dual-signed X.509 cert (both algos)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64408" y="4251960"/>
            <a:ext cx="2670048" cy="512064"/>
          </a:xfrm>
          <a:prstGeom prst="rect">
            <a:avLst/>
          </a:prstGeom>
          <a:solidFill>
            <a:srgbClr val="12184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427939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</a:rPr>
              <a:t>Pilot with Google Trust Services 2025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63056" y="3017520"/>
            <a:ext cx="2852928" cy="1828800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3056" y="3017520"/>
            <a:ext cx="28529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03580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API Payload Encryption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72784" y="349300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Classical: RSA-OAEP (wrap key)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72784" y="371246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PQC: ML-KEM (wrap key)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72784" y="39319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Combined: Both ciphertexts wrap AES-256-GCM key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54496" y="4251960"/>
            <a:ext cx="2670048" cy="512064"/>
          </a:xfrm>
          <a:prstGeom prst="rect">
            <a:avLst/>
          </a:prstGeom>
          <a:solidFill>
            <a:srgbClr val="1218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427939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Implement in app layer using Tink or OQS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F2A"/>
                </a:solidFill>
              </a:rPr>
              <a:t>PQC Migration Readiness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Use this checklist to assess your organisation's readiness for PQC migration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87552"/>
            <a:ext cx="4206240" cy="402336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2A"/>
                </a:solidFill>
              </a:rPr>
              <a:t>PHASE 1 — Discover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" y="146304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6304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Inventory all cryptographic assets (certs, keys, algorithms)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" y="173736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73736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Map every API endpoint using RSA/ECDSA/ECDH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" y="201168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1168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Identify data with &gt;10 year sensitivity (harvest now threat)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" y="228600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8600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Catalogue third-party dependencies &amp; their crypto support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7744" y="256032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56032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Audit GCP services in use (KMS, LB, Cloud SQL, GKE TLS)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98755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87552"/>
            <a:ext cx="420624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241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2A"/>
                </a:solidFill>
              </a:rPr>
              <a:t>PHASE 1 — Assess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9744" y="146304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46304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Classify systems by quantum risk (high / medium / low)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9744" y="173736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73736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Benchmark PQC algo performance on your workloads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9744" y="201168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01168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Check library support (OpenSSL, BouncyCastle, Go, Python)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9744" y="228600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28600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Evaluate cert size impact on CDN/mobile/IoT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9744" y="2560320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560320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Estimate migration effort &amp; timeline per system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294436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2944368"/>
            <a:ext cx="420624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98094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2A"/>
                </a:solidFill>
              </a:rPr>
              <a:t>PHASE 2 — Plan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37744" y="341985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41985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Define target PQC algorithms (ML-KEM, ML-DSA per use case)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37744" y="369417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69417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Design hybrid deployment for each cryptographic operation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7744" y="396849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96849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Update cryptographic policy &amp; standards documentation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7744" y="424281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24281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Create key rotation &amp; cert renewal automation plan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7744" y="451713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51713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Set up monitoring for deprecated algorithm usage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294436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944368"/>
            <a:ext cx="420624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98094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2A"/>
                </a:solidFill>
              </a:rPr>
              <a:t>PHASE 2 — Pilot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09744" y="341985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341985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Enable hybrid PQC TLS on non-critical GCP HTTPS LBs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9744" y="369417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369417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Test ML-KEM key wrapping in Cloud KMS staging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9744" y="396849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396849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Validate client compatibility (browsers, mobile, API clients)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9744" y="424281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2352" y="424281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Measure latency &amp; cert size in production-like environment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9744" y="4517136"/>
            <a:ext cx="228600" cy="228600"/>
          </a:xfrm>
          <a:prstGeom prst="rect">
            <a:avLst/>
          </a:prstGeom>
          <a:solidFill>
            <a:srgbClr val="F1F5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2352" y="4517136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Document lessons learned, refine playbook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82880" y="4937760"/>
            <a:ext cx="8778240" cy="292608"/>
          </a:xfrm>
          <a:prstGeom prst="rect">
            <a:avLst/>
          </a:prstGeom>
          <a:solidFill>
            <a:srgbClr val="12184A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9560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PHASE 3: Full Migration (2026–2027) · PHASE 4: Deprecate classical-only (post-2028)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When Can We Start? — GCP Pilot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9E0B"/>
                </a:solidFill>
              </a:rPr>
              <a:t>A realistic, phased pilot roadmap for GCP-hosted systems — start NOW with zero disruption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2834640" cy="3822192"/>
          </a:xfrm>
          <a:prstGeom prst="rect">
            <a:avLst/>
          </a:prstGeom>
          <a:solidFill>
            <a:srgbClr val="1A225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87552"/>
            <a:ext cx="28346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42416"/>
            <a:ext cx="621792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424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060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Q1-Q2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3350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Immediately — Zero Risk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1700784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700784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7190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Enable hybrid PQC TLS on dev/staging GCP HTTPS LBs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92608" y="2103120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103120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121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Inventory all cryptographic assets using SCC + gcloud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2608" y="2505456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2505456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Enable X25519MLKEM768 in SSL policies (non-prod)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92608" y="2907792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907792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Evaluate OpenSSL 3.x + OQS provider in Docker images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92608" y="3310128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3310128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3284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Assign PQC migration owner — create working group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2651760" cy="896112"/>
          </a:xfrm>
          <a:prstGeom prst="rect">
            <a:avLst/>
          </a:prstGeom>
          <a:solidFill>
            <a:srgbClr val="080C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376732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Pilot Note: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" y="39684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Chrome 124+ and Firefox 132+ already support X25519MLKEM768 — your browsers are ready!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72968" y="987552"/>
            <a:ext cx="2834640" cy="3822192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987552"/>
            <a:ext cx="28346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1042416"/>
            <a:ext cx="621792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10424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PILOT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50208" y="1060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Q3-Q4 2025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64408" y="13350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Pilot Test — Low Risk Systems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82696" y="1700784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82696" y="1700784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17190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Enable hybrid PQC TLS on 1 production non-critical service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3282696" y="2103120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82696" y="2103120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2121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Test ML-KEM key wrapping in Cloud KMS for internal APIs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282696" y="2505456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82696" y="2505456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0712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Benchmark latency: measure p99 TLS handshake overhead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3282696" y="2907792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82696" y="2907792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0712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Test dual-signed certs on internal mTLS services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3282696" y="3310128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82696" y="3310128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10712" y="33284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Validate GKE workload identity with PQC key material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3264408" y="3749040"/>
            <a:ext cx="2651760" cy="896112"/>
          </a:xfrm>
          <a:prstGeom prst="rect">
            <a:avLst/>
          </a:prstGeom>
          <a:solidFill>
            <a:srgbClr val="080C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9272" y="376732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Pilot Note: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19272" y="39684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Target: internal admin tools, dev portals, non-customer-facing APIs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63056" y="987552"/>
            <a:ext cx="2834640" cy="3822192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63056" y="987552"/>
            <a:ext cx="2834640" cy="64008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54496" y="1042416"/>
            <a:ext cx="621792" cy="274320"/>
          </a:xfrm>
          <a:prstGeom prst="rect">
            <a:avLst/>
          </a:prstGeom>
          <a:solidFill>
            <a:srgbClr val="0B0F2A"/>
          </a:solidFill>
          <a:ln w="12700">
            <a:solidFill>
              <a:srgbClr val="0B0F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54496" y="10424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BEB"/>
                </a:solidFill>
              </a:rPr>
              <a:t>EXPAND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40296" y="10607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Q1-Q2 2026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54496" y="13350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Expand to Production APIs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72784" y="1700784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1700784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17190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Roll hybrid PQC TLS to all customer-facing HTTPS LBs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6272784" y="2103120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2784" y="2103120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21214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Migrate JWT signing from ECDSA to ML-DSA (when GA)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6272784" y="2505456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72784" y="2505456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Replace RSA key exchange in all internal API gateways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272784" y="2907792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72784" y="2907792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29260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Update Cloud Armor WAF SSL policies to require TLS 1.3+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6272784" y="3310128"/>
            <a:ext cx="2615184" cy="347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72784" y="3310128"/>
            <a:ext cx="64008" cy="34747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33284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Begin certificate rotation: replace ECDSA with hybrid certs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6254496" y="3749040"/>
            <a:ext cx="2651760" cy="896112"/>
          </a:xfrm>
          <a:prstGeom prst="rect">
            <a:avLst/>
          </a:prstGeom>
          <a:solidFill>
            <a:srgbClr val="080C1E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376732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3BEB"/>
                </a:solidFill>
              </a:rPr>
              <a:t>Pilot Note: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309360" y="396849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Monitor: cert pinning issues, mobile client compatibility, CDN edge support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0F2A"/>
                </a:solidFill>
              </a:rPr>
              <a:t>Pilot Architecture — Hybrid PQC on GCP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Reference architecture for your first hybrid PQC pilot in a GCP environment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0424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Internet / Clients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2801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Chrome 124+ · Firefox 132+ · Mobile (TFLite)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34840" y="15361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645920"/>
            <a:ext cx="8778240" cy="56692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" y="1682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GCP HTTPS Load Balancer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9202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SSL Policy: RESTRICTED + TLS 1.3 + X25519MLKEM768 (Hybrid PQC TLS)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34840" y="217627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" y="2286000"/>
            <a:ext cx="8778240" cy="566928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" y="23225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Armor WAF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2560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DDoS protection + Bot management + Rate limiting (not PQC-specific but required)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8163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8778240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" y="29626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GKE / Cloud Run — Application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" y="3200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App uses Google Tink library (PQC-ready). JWT auth via Cloud IAP. mTLS between services.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34564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" y="3566160"/>
            <a:ext cx="87782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" y="3602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Cloud KMS — Key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" y="38404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ML-KEM key versions for wrapping. Rotate classical keys. Audit all key operations via Cloud Audit Logs.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40965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BEB"/>
                </a:solidFill>
              </a:rPr>
              <a:t>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4206240"/>
            <a:ext cx="877824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" y="42428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2A"/>
                </a:solidFill>
              </a:rPr>
              <a:t>Cloud Storage / Cloud SQL / Spanner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" y="44805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0F2A"/>
                </a:solidFill>
              </a:rPr>
              <a:t>CMEK with KMS. AES-256-GCM at rest (quantum-safe already). Plan future: PQC-wrapped DEKs.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All layers communicate over hybrid TLS 1.3. Key operations flow through Cloud KMS. Audit logs aggregated in Cloud Logging -&gt; BigQuery for SIEM.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Tools &amp; Libraries for PQC Development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5F3FC"/>
                </a:solidFill>
              </a:rPr>
              <a:t>What to use in your code TODAY to start PQC-ready development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315968" cy="2176272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4315968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424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2A"/>
                </a:solidFill>
              </a:rPr>
              <a:t>Google Tink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70048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0F2A"/>
                </a:solidFill>
              </a:rPr>
              <a:t>Java · Go · Python · C++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Google's preferred crypto library. PQC-ready. Handles key rotation, hybrid encryption, and safe defaults. Use for all new service-to-service encryption.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4133088" cy="1115568"/>
          </a:xfrm>
          <a:prstGeom prst="rect">
            <a:avLst/>
          </a:prstGeom>
          <a:solidFill>
            <a:srgbClr val="050816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2029968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Tink — hybrid AEAD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tink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tink import aead, hybrid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hybrid.register()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keyset = tink.new_keyset_handle(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hybrid.hybrid_key_templates.DHKEM_X25519_HKDF_SHA256_HKDF_SHA256_AES_256_GCM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315968" cy="2176272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4315968" cy="402336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424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2A"/>
                </a:solidFill>
              </a:rPr>
              <a:t>OQS-OpenSSL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42048" y="1097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0F2A"/>
                </a:solidFill>
              </a:rPr>
              <a:t>C · Python · Go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Open Quantum Safe project's OpenSSL 3.x provider. Adds all NIST PQC algorithms to OpenSSL. Use for TLS server configuration and CLI testing.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993392"/>
            <a:ext cx="4133088" cy="1115568"/>
          </a:xfrm>
          <a:prstGeom prst="rect">
            <a:avLst/>
          </a:prstGeom>
          <a:solidFill>
            <a:srgbClr val="050816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2029968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PQC TLS handshake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s_client -connect api.example.com:443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-groups x25519_mlkem768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-tls1_3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ML-KEM key pair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genpkey -algorithm ML-KEM-768 \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-out mlkem_key.pem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82880" y="3310128"/>
            <a:ext cx="4315968" cy="2176272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310128"/>
            <a:ext cx="431596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46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2A"/>
                </a:solidFill>
              </a:rPr>
              <a:t>BouncyCastle 1.78+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70048" y="3401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0F2A"/>
                </a:solidFill>
              </a:rPr>
              <a:t>Java · Kotlin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767328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Java's go-to crypto library now supports ML-KEM, ML-DSA, and SLH-DSA. Drop-in replacement for existing BC-based code in Spring Boot / Micronaut services.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4133088" cy="1115568"/>
          </a:xfrm>
          <a:prstGeom prst="rect">
            <a:avLst/>
          </a:prstGeom>
          <a:solidFill>
            <a:srgbClr val="050816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4334256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ML-KEM key gen (BouncyCastle)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Security.addProvider(new BouncyCastleProvider());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KeyPairGenerator kpg =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KeyPairGenerator.getInstance("ML-KEM", "BC");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kpg.initialize(new MLKEMParameterSpec(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MLKEMParameterSpec.ml_kem_768));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KeyPair kp = kpg.generateKeyPair();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754880" y="3310128"/>
            <a:ext cx="4315968" cy="2176272"/>
          </a:xfrm>
          <a:prstGeom prst="rect">
            <a:avLst/>
          </a:prstGeom>
          <a:solidFill>
            <a:srgbClr val="1A22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310128"/>
            <a:ext cx="4315968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46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2A"/>
                </a:solidFill>
              </a:rPr>
              <a:t>Go crypto / cloudflare/circl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42048" y="3401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B0F2A"/>
                </a:solidFill>
              </a:rPr>
              <a:t>Go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767328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 1.23+ includes experimental PQC support. Cloudflare's CIRCL library provides production-ready ML-KEM and ML-DSA. Ideal for GCP Go services.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4297680"/>
            <a:ext cx="4133088" cy="1115568"/>
          </a:xfrm>
          <a:prstGeom prst="rect">
            <a:avLst/>
          </a:prstGeom>
          <a:solidFill>
            <a:srgbClr val="050816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4334256"/>
            <a:ext cx="402336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"github.com/cloudflare/circl/kem/mlkem"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ML-KEM-768 key encapsulation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kem := mlkem.Scheme768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pk, sk, _ := kem.GenerateKeyPair()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ct, ss, _ := kem.Encapsulate(pk)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ssR, _ := kem.Decapsulate(sk, ct)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F2A"/>
                </a:solidFill>
              </a:rPr>
              <a:t>PQC Industry Timeline &amp; Regulatory Deadlines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Know your deadlines — migration takes longer than you think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109728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86537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26464"/>
            <a:ext cx="0" cy="438912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91440" y="1005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-182880" y="1188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NIST FIPS 203/204/205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Published (Aug 2024)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10512" y="186537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084832"/>
            <a:ext cx="0" cy="43891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523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2025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27066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GCP hybrid PQC TLS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GA · Start pilots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73552" y="1865376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426464"/>
            <a:ext cx="0" cy="438912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005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1188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NSA CNSA 2.0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Software deadline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36592" y="1865376"/>
            <a:ext cx="219456" cy="219456"/>
          </a:xfrm>
          <a:prstGeom prst="ellipse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084832"/>
            <a:ext cx="0" cy="438912"/>
          </a:xfrm>
          <a:prstGeom prst="line">
            <a:avLst/>
          </a:prstGeom>
          <a:noFill/>
          <a:ln w="12700">
            <a:solidFill>
              <a:srgbClr val="6C3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523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BEB"/>
                </a:solidFill>
              </a:rPr>
              <a:t>2027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7066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NIST deprecates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RSA/ECC in new systems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99632" y="1865376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426464"/>
            <a:ext cx="0" cy="438912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005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2028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188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Financial sector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PQC compliance target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62672" y="1865376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084832"/>
            <a:ext cx="0" cy="438912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523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2030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27066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CRQC estimated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F2A"/>
                </a:solidFill>
              </a:rPr>
              <a:t>arrival window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2304288"/>
            <a:ext cx="8778240" cy="347472"/>
          </a:xfrm>
          <a:prstGeom prst="rect">
            <a:avLst/>
          </a:prstGeom>
          <a:solidFill>
            <a:srgbClr val="1E2D6B"/>
          </a:solidFill>
          <a:ln w="12700">
            <a:solidFill>
              <a:srgbClr val="1E2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32257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Sector / Regulation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0" y="23225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PQC Pilot Target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Migration Deadline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80960" y="23225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" y="2724912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" y="2798064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Government / NSA CNSA 2.0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Q4 2025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57800" y="27980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2027 (SW) / 2030 (HW)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80960" y="2779776"/>
            <a:ext cx="11887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27797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CRITICAL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2880" y="3163824"/>
            <a:ext cx="8778240" cy="402336"/>
          </a:xfrm>
          <a:prstGeom prst="rect">
            <a:avLst/>
          </a:prstGeom>
          <a:solidFill>
            <a:srgbClr val="F1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" y="3236976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Financial Services / PCI-DSS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00400" y="3236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Q2 2025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57800" y="32369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2028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80960" y="3218688"/>
            <a:ext cx="118872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218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82880" y="3602736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" y="3675888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Healthcare / HIPAA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0" y="3675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Q3 2025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5780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2029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80960" y="3657600"/>
            <a:ext cx="118872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3657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82880" y="4041648"/>
            <a:ext cx="8778240" cy="402336"/>
          </a:xfrm>
          <a:prstGeom prst="rect">
            <a:avLst/>
          </a:prstGeom>
          <a:solidFill>
            <a:srgbClr val="F1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6888" y="411480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General Enterprise / ISO 27001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0040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Q1 2026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257800" y="4114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2030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680960" y="4096512"/>
            <a:ext cx="11887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80960" y="40965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82880" y="4480560"/>
            <a:ext cx="8778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6888" y="455371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2A"/>
                </a:solidFill>
              </a:rPr>
              <a:t>SaaS / Consumer Apps (our target)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200400" y="4553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3BEB"/>
                </a:solidFill>
              </a:rPr>
              <a:t>Q3 2025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257800" y="4553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3BEB"/>
                </a:solidFill>
              </a:rPr>
              <a:t>2026 pilot / 2028 full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680960" y="4535424"/>
            <a:ext cx="1188720" cy="27432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80960" y="45354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09728"/>
            <a:ext cx="2926080" cy="4919472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691640"/>
            <a:ext cx="1828800" cy="1828800"/>
          </a:xfrm>
          <a:prstGeom prst="ellipse">
            <a:avLst/>
          </a:prstGeom>
          <a:solidFill>
            <a:srgbClr val="12184A">
              <a:alpha val="0"/>
            </a:srgbClr>
          </a:solidFill>
          <a:ln w="15240">
            <a:solidFill>
              <a:srgbClr val="6C3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3740" y="1988820"/>
            <a:ext cx="1234440" cy="1234440"/>
          </a:xfrm>
          <a:prstGeom prst="ellipse">
            <a:avLst/>
          </a:prstGeom>
          <a:solidFill>
            <a:srgbClr val="12184A">
              <a:alpha val="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286000"/>
            <a:ext cx="640080" cy="640080"/>
          </a:xfrm>
          <a:prstGeom prst="ellipse">
            <a:avLst/>
          </a:prstGeom>
          <a:solidFill>
            <a:srgbClr val="12184A">
              <a:alpha val="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52944" y="2478024"/>
            <a:ext cx="256032" cy="256032"/>
          </a:xfrm>
          <a:prstGeom prst="ellipse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6952" y="34564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25420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952" y="16276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1352" y="25420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1604" y="318668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2300" y="18973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1604" y="18973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72300" y="318668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40487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3BEB"/>
                </a:solidFill>
              </a:rPr>
              <a:t>Q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Your Quantum-Safe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Journey Starts Now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20040" y="1371600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371600"/>
            <a:ext cx="438912" cy="594360"/>
          </a:xfrm>
          <a:prstGeom prst="rect">
            <a:avLst/>
          </a:prstGeom>
          <a:solidFill>
            <a:srgbClr val="6C3BEB"/>
          </a:solidFill>
          <a:ln w="12700">
            <a:solidFill>
              <a:srgbClr val="6C3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371600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14081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 a PQC Working Group this week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16459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3BEB"/>
                </a:solidFill>
              </a:rPr>
              <a:t>Owner: InfoSec + Engineering leads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048256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048256"/>
            <a:ext cx="438912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048256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2084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cryptographic asset inventory in GCP SCC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23225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</a:rPr>
              <a:t>Owner: Cloud Security team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724912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724912"/>
            <a:ext cx="43891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724912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27614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Enable hybrid PQC TLS on 1 dev LB today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29992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</a:rPr>
              <a:t>Owner: Platform/SRE team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401568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401568"/>
            <a:ext cx="43891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01568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3438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 Google Tink in one new service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36758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Owner: Application teams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078224"/>
            <a:ext cx="5687568" cy="594360"/>
          </a:xfrm>
          <a:prstGeom prst="rect">
            <a:avLst/>
          </a:prstGeom>
          <a:solidFill>
            <a:srgbClr val="1A225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078224"/>
            <a:ext cx="438912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078224"/>
            <a:ext cx="438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2A"/>
                </a:solidFill>
              </a:rPr>
              <a:t>05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4114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pilot success metrics &amp; review date (90 days)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43525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7316"/>
                </a:solidFill>
              </a:rPr>
              <a:t>Owner: All stakeholders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754880"/>
            <a:ext cx="5687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Resources: cloud.google.com/kms/docs/quantum-safe  |  csrc.nist.gov/projects/post-quantum-cryptography  |  openquantumsafe.org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Post-Quantum Cryptography Migration — GCP</dc:title>
  <dc:subject>PptxGenJS Presentation</dc:subject>
  <dc:creator>PptxGenJS</dc:creator>
  <cp:lastModifiedBy>PptxGenJS</cp:lastModifiedBy>
  <cp:revision>1</cp:revision>
  <dcterms:created xsi:type="dcterms:W3CDTF">2026-02-22T08:11:12Z</dcterms:created>
  <dcterms:modified xsi:type="dcterms:W3CDTF">2026-02-22T08:11:12Z</dcterms:modified>
</cp:coreProperties>
</file>