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2296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&amp;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Workshop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B8A6"/>
                </a:solidFill>
              </a:rPr>
              <a:t>Understanding Encryption · Digital Signatures · Hashing · TLS/SSL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023360"/>
            <a:ext cx="10972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Cryptography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143000" y="4023360"/>
            <a:ext cx="10972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Hashing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86000" y="4023360"/>
            <a:ext cx="10972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HMAC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29000" y="4023360"/>
            <a:ext cx="10972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Digital Signature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4023360"/>
            <a:ext cx="10972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AES-GCM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715000" y="4023360"/>
            <a:ext cx="10972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CBC Vulnerabilities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58000" y="4023360"/>
            <a:ext cx="10972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TLS vs SSL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01000" y="4023360"/>
            <a:ext cx="10972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4041648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Payload Encryption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Team Workshop · Security Fundamentals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F3D"/>
                </a:solidFill>
              </a:rPr>
              <a:t>Workshop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972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Cryptography Fundamentals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Symmetric &amp; Asymmetric, Key concepts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240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4028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3317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Hashing &amp; HMAC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715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SHA-256, HMAC authentication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47472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5661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Digital Signatures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950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RSA, ECDSA, PKI basics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0584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0972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AES-GCM vs CBC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Modes of operation, vulnerabilities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2402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4028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33172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2331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Payload Encryption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7157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JWE, request/response encryption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74720"/>
            <a:ext cx="5029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35661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49240" y="3566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TLS vs SSL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39502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Handshake, certificates, versions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Cryptography Fundamentals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7840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🔐 Symmetric Encryption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361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Same key for encrypt &amp; decrypt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665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Fast — ideal for large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Key distribution is the challenge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Examples: AES, DES, 3DES, ChaCha20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Use case: Encrypting files, databases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960120"/>
            <a:ext cx="3931920" cy="365760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960120"/>
            <a:ext cx="393192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97840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🔑 Asymmetric Encryption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74920" y="15361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Public key encrypts, private decrypts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206654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Slower — used for small data/keys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25968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Solves key distribution problem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74920" y="312724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Examples: RSA, ECC, ElGamal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7492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▸  Use case: TLS handshake, signing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CD34D"/>
                </a:solidFill>
              </a:rPr>
              <a:t>Key Insight: Modern systems combine both — Asymmetric to exchange keys, Symmetric to encrypt data (Hybrid Encryption)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</a:rPr>
              <a:t>Hashing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One-way function: converts any input into a fixed-size output (digest). Cannot be reversed.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371600" cy="7315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207008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(any size)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65960" y="13533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0" y="1188720"/>
            <a:ext cx="137160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0" y="1207008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Function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49240" y="13533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040880" y="1188720"/>
            <a:ext cx="137160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1207008"/>
            <a:ext cx="1371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Digest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(fixed size)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859536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2140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SHA-256("Hello") → 185f8db32921bd46d35...b7a7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83464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29077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Deterministic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9768" y="32369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Same input always gives same output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3464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29077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One-Way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8888" y="323697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Cannot reverse hash to get input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84048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84048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3913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Avalanche Effect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9768" y="42428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1-bit change → completely different hash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3840480"/>
            <a:ext cx="4023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84048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9136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Collision Resistant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18888" y="4242816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Hard to find two inputs with same hash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HMAC — Hash-based Message Authentication Code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What is HMAC?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8404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HMAC combines a secret key with a hash function to create a Message Authentication Code.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It verifies BOTH: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  ✓  Data integrity (not tampered)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  ✓  Authentication (sender has the key)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Formula: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HMAC(K, m) = H((K' ⊕ opad) || H((K' ⊕ ipad) || m))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4206240" cy="39319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HMAC Flow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463040"/>
            <a:ext cx="3840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4813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  Message + Secret Key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9476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103120"/>
            <a:ext cx="3840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1214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  XOR with ipad / opad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25877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743200"/>
            <a:ext cx="3840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7614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  Apply Hash Function (e.g. SHA-256)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322783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3383280"/>
            <a:ext cx="38404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4015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  HMAC Output (tag)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86791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4023360"/>
            <a:ext cx="3840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40416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5  Compare tags to verify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</a:rPr>
              <a:t>Digital Signatures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68680"/>
            <a:ext cx="411480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8696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✍  SIGNING  (Sender)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087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1.  Hash the message (e.g. SHA-256)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176272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219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2.  Encrypt hash with PRIVATE key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889504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93522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3.  Attach signature to message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602736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64845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4.  Send message + signature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60520" y="24688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4846320" y="868680"/>
            <a:ext cx="41148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868680"/>
            <a:ext cx="41148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886968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VERIFYING  (Receiver)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83480" y="1463040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15087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1.  Hash the received message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3480" y="2176272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22199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2.  Decrypt signature with PUBLIC key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2889504"/>
            <a:ext cx="38404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93522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3.  Compare both hashes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83480" y="3602736"/>
            <a:ext cx="3840480" cy="566928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64845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4.  Match = Valid! Mismatch = Tampered!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AES Modes: GCM vs CBC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206240" cy="4069080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14400"/>
            <a:ext cx="420624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326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AES-GCM  (Recommended)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53619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Authenticated Encryption (AEAD)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04825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Provides confidentiality + integrity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5603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Generates Authentication Tag (16 bytes)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0723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Detects tampering automatically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58444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Parallelizable — very fast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0965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Unique IV (nonce) per encryption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4206240" cy="406908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914400"/>
            <a:ext cx="420624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9326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AES-CBC  (Has Vulnerabilities)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53619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  Encryption only — NO integrity check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04825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  Sequential blocks — slower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5603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  Requires padding (PKCS#7)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0723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</a:rPr>
              <a:t>⚠ PADDING ORACLE attacks possible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58444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D34D"/>
                </a:solidFill>
              </a:rPr>
              <a:t>⚠ BEAST attack (TLS 1.0 + CBC)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409651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✗  Must use separate MAC for integrity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</a:rPr>
              <a:t>AES-GCM: Code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029200" cy="4114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8869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4B8A6"/>
                </a:solidFill>
              </a:rPr>
              <a:t>Python (cryptography library)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cryptography.hazmat.primitives.ciphers.aead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 AESGCM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a 256-bit 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os.urandom(32)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a unique 12-byte nonce (IV)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nonce = os.urandom(12)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Additional data (authenticated, not encrypted)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aad = b"header-data"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cipher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aesgcm = AESGCM(key)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ENCRYPT → ciphertext + 16-byte auth tag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ciphertext = aesgcm.encrypt(nonce, b"secret msg", aad)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DECRYPT (raises exception if tag invalid)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plaintext = aesgcm.decrypt(nonce, ciphertext, aad)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577840" y="86868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77840" y="868680"/>
            <a:ext cx="32918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8869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GCM Output Structure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1417320"/>
            <a:ext cx="310896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417320"/>
            <a:ext cx="73152" cy="6858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444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Nonce / IV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1691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12 bytes — unique per encryption. Never reuse!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69280" y="2240280"/>
            <a:ext cx="310896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2240280"/>
            <a:ext cx="73152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2677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Ciphertext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6440" y="2514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Encrypted data (same length as plaintext)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0" y="3063240"/>
            <a:ext cx="310896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3063240"/>
            <a:ext cx="73152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0906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Auth Tag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3337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16 bytes — verifies integrity. Decryption fails if tampered!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69280" y="3886200"/>
            <a:ext cx="3108960" cy="685800"/>
          </a:xfrm>
          <a:prstGeom prst="rect">
            <a:avLst/>
          </a:prstGeom>
          <a:solidFill>
            <a:srgbClr val="F0FDFA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3886200"/>
            <a:ext cx="73152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39136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</a:rPr>
              <a:t>AAD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806440" y="4160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Additional Authenticated Data — signed but NOT encrypted (e.g. headers)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⚠  CBC Vulnerabilities Deep Dive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4206240" cy="2103120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14400"/>
            <a:ext cx="4206240" cy="43891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3268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🩹 Padding Oracle Attack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41732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Attacker modifies ciphertext blocks and observes server responses to determine if padding is valid. This leaks information about the plaintext — byte by byte!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CVE Examples: Lucky13, POODLE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Impact: Full plaintext recovery possible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06240" cy="2103120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420624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3268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🦁 BEAST Attack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9319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Browser Exploit Against SSL/TLS. Affects TLS 1.0 + CBC. The predictable IV allows a MITM attacker to decrypt HTTPS cookies.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Fixed in TLS 1.1+ (random IV)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Impact: Session hijacking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3154680"/>
            <a:ext cx="420624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3154680"/>
            <a:ext cx="4206240" cy="43891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317296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3D"/>
                </a:solidFill>
              </a:rPr>
              <a:t>⚡ Bit-Flipping Attack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3657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In CBC, flipping bits in ciphertext block N will predictably flip corresponding bits in plaintext block N+1.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Allows modifying plaintext without decrypting!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3154680"/>
            <a:ext cx="4206240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154680"/>
            <a:ext cx="4206240" cy="43891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17296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Mitigations &amp; Best Practices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657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Use AES-GCM instead of AES-CBC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Always add MAC-then-Encrypt or use AEAD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Use TLS 1.2+ (disable CBC in TLS 1.0/1.1)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• Never reuse IV/nonce values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</a:rPr>
              <a:t>Payload Encryption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Encrypting the HTTP request/response body — beyond what TLS provides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8778240" cy="685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encrypt payloads if we have TLS?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</a:rPr>
              <a:t>TLS secures transport only. Terminate TLS at load balancer → payload exposed internally. Payload encryption adds end-to-end protection.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920240"/>
            <a:ext cx="4206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920240"/>
            <a:ext cx="420624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93852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JWE (JSON Web Encryption)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242316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Structure: header.key.iv.ciphertext.tag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Algorithms: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  Key wrap: RSA-OAEP, A256KW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  Content: A256GCM, A128CBC-HS256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F3D"/>
                </a:solidFill>
              </a:rPr>
              <a:t>Used in: OpenID Connect, FAPI APIs, banking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920240"/>
            <a:ext cx="42062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920240"/>
            <a:ext cx="4206240" cy="43891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93852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Best Practices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4505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Use AES-256-GCM for content encryption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825496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Rotate keys regularly (KMS/Vault)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92040" y="320040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Include request ID in AAD to prevent replay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92040" y="3575304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Validate auth tag before processing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3950208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Combine with TLS (defense in depth)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43251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F3D"/>
                </a:solidFill>
              </a:rPr>
              <a:t>→  Log decryption failures as security events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TLS vs SSL — What's the Difference?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14400"/>
            <a:ext cx="73152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5097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SSL 1.0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95097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1994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94560" y="95097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Never released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60520" y="95097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Serious design flaws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2880" y="1490472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490472"/>
            <a:ext cx="73152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2704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SSL 2.0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152704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1995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15270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DEPRECATED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0520" y="152704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DROWN attack, weak ciphers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2066544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2066544"/>
            <a:ext cx="73152" cy="5120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0312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SSL 3.0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17320" y="21031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1996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210312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DEPRECATED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60520" y="21031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POODLE attack, CBC vuln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2642616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2642616"/>
            <a:ext cx="73152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6791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TLS 1.0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17320" y="2679192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1999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267919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DEPRECATED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60520" y="267919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BEAST, POODLE, no strong ciphers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" y="3218688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" y="3218688"/>
            <a:ext cx="73152" cy="5120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25526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TLS 1.1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17320" y="3255264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94560" y="325526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DEPRECATED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60520" y="325526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Deprecated 2021, use TLS 1.2+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82880" y="3794760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80" y="3794760"/>
            <a:ext cx="73152" cy="5120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83133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TLS 1.2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17320" y="3831336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2008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94560" y="38313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✓ ACCEPTED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60520" y="383133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AES-GCM, SHA-256, AEAD support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82880" y="4370832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2880" y="4370832"/>
            <a:ext cx="73152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40740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TLS 1.3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17320" y="4407408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2018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194560" y="440740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✓✓ RECOMMENDED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60520" y="440740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0-RTT, fewer cipher suites, forward secrecy by default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</a:rPr>
              <a:t>TLS 1.3 Handshake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011680" cy="4572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93268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CLIENT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914400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93268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SERVER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1371600"/>
            <a:ext cx="0" cy="347472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1371600"/>
            <a:ext cx="0" cy="34747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1645920"/>
            <a:ext cx="6766560" cy="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41732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06040" y="144475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ClientHello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(supported ciphers, key share)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26680" y="15179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D"/>
                </a:solidFill>
              </a:rPr>
              <a:t>▶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88720" y="2286000"/>
            <a:ext cx="67665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205740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06040" y="208483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ServerHello + Certificate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</a:rPr>
              <a:t>+ Finished (encrypted)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215798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</a:rPr>
              <a:t>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88720" y="3017520"/>
            <a:ext cx="6766560" cy="0"/>
          </a:xfrm>
          <a:prstGeom prst="line">
            <a:avLst/>
          </a:prstGeom>
          <a:noFill/>
          <a:ln w="19050">
            <a:solidFill>
              <a:srgbClr val="0F1F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278892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606040" y="281635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F3D"/>
                </a:solidFill>
              </a:rPr>
              <a:t>Finished (encrypted)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26680" y="2889504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F3D"/>
                </a:solidFill>
              </a:rPr>
              <a:t>▶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3474720"/>
            <a:ext cx="8595360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93008"/>
            <a:ext cx="841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↔  Application Data  (TLS connection established!)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TLS 1.3 advantage: Only 1 round-trip (1-RTT) vs TLS 1.2's 2-RTT. 0-RTT for resumption.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Quick Reference Cheat Sheet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94183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Encryption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96012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AES-256-GCM (symmetric), RSA-2048+ / ECDSA P-256 (asymmetric)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2880" y="1490472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51790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#️⃣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53619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Hashing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1536192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SHA-256 or SHA-3. Never MD5 or SHA-1 for security purposes.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82880" y="2066544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09397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211226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HMAC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48840" y="2112264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HMAC-SHA256 for message authentication. Key size ≥ 256 bits.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2642616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67004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✍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26883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Digital Sig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2688336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RSA-PSS or ECDSA. Always verify before trusting data.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2880" y="3218688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324612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2644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AES Mode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48840" y="3264408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Use GCM. Avoid CBC unless paired with HMAC. Never reuse nonce!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2880" y="3794760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82219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" y="384048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TLS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48840" y="3840480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Enforce TLS 1.2 minimum. Prefer TLS 1.3. Disable SSL + TLS 1.0/1.1.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82880" y="4370832"/>
            <a:ext cx="877824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439826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441655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Payload Enc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48840" y="4416552"/>
            <a:ext cx="6675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JWE with A256GCM. Use request IDs in AAD to prevent replay attacks.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🛠  Workshop Time!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85953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64008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27048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45336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Generate AES-GCM key, encrypt and decrypt a payload in Python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167128"/>
            <a:ext cx="85953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67128"/>
            <a:ext cx="64008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85416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203704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Compute SHA-256 and HMAC-SHA256 of a message with a secret key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825496"/>
            <a:ext cx="85953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825496"/>
            <a:ext cx="64008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43784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86207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Create and verify a digital signature using RSA or ECDSA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483864"/>
            <a:ext cx="85953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483864"/>
            <a:ext cx="64008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502152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520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Demonstrate a Padding Oracle on a simple CBC-encrypted string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142232"/>
            <a:ext cx="8595360" cy="548640"/>
          </a:xfrm>
          <a:prstGeom prst="rect">
            <a:avLst/>
          </a:prstGeom>
          <a:solidFill>
            <a:srgbClr val="0F766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4142232"/>
            <a:ext cx="640080" cy="54864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160520"/>
            <a:ext cx="640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4178808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Inspect a TLS 1.3 handshake using Wireshark or openssl s_client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