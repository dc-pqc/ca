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&amp;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Workshop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B8A6"/>
                </a:solidFill>
              </a:rPr>
              <a:t>Understanding Encryption · Digital Signatures · Hashing · TLS/SSL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023360"/>
            <a:ext cx="10972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Cryptography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43000" y="4023360"/>
            <a:ext cx="10972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Hashing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0" y="4023360"/>
            <a:ext cx="10972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HMAC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4023360"/>
            <a:ext cx="10972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Digital Signature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4023360"/>
            <a:ext cx="10972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AES-GCM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15000" y="4023360"/>
            <a:ext cx="10972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CBC Vulnerabilities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0" y="4023360"/>
            <a:ext cx="10972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TLS vs SSL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01000" y="4023360"/>
            <a:ext cx="10972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Payload Encryption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Team Workshop · Security Fundamentals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3D"/>
                </a:solidFill>
              </a:rPr>
              <a:t>Workshop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972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Cryptography Fundamentals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Symmetric &amp; Asymmetric, Key concepts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4028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3317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Hashing &amp; HMAC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715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SHA-256, HMAC authentication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5661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Digital Signatures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950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RSA, ECDSA, PKI basics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0972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AES-GCM vs CBC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Modes of operation, vulnerabilities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4028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3317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Payload Encryption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715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JWE, request/response encryption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7472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5661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TLS vs SSL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950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Handshake, certificates, versions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Cryptography Fundamentals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7840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🔐 Symmetric Encryption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Same key for encrypt &amp; decrypt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665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Fast — ideal for large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Key distribution is the challenge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Examples: AES, DES, 3DES, ChaCha20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Use case: Encrypting files, databases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960120"/>
            <a:ext cx="393192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960120"/>
            <a:ext cx="393192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97840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Asymmetric Encryption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536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Public key encrypts, private decrypts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0665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Slower — used for small data/keys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Solves key distribution problem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127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Examples: RSA, ECC, ElGamal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Use case: TLS handshake, signing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CD34D"/>
                </a:solidFill>
              </a:rPr>
              <a:t>Key Insight: Modern systems combine both — Asymmetric to exchange keys, Symmetric to encrypt data (Hybrid Encryption)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Hashing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One-way function: converts any input into a fixed-size output (digest). Cannot be reversed.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3716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07008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(any size)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13533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0" y="1188720"/>
            <a:ext cx="13716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207008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Function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49240" y="13533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040880" y="1188720"/>
            <a:ext cx="13716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1207008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Digest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(fixed size)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859536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214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SHA-256("Hello") → 185f8db32921bd46d35...b7a7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3464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9077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Deterministic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" y="32369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Same input always gives same output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3464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9077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One-Way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32369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Cannot reverse hash to get input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84048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913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Avalanche Effect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" y="42428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1-bit change → completely different hash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8404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84048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913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Collision Resistant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18888" y="42428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Hard to find two inputs with same hash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HMAC — Hash-based Message Authentication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What is HMAC?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HMAC combines a secret key with a hash function to create a Message Authentication Code.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It verifies BOTH: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  ✓  Data integrity (not tampered)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  ✓  Authentication (sender has the key)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Formula: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HMAC(K, m) = H((K' ⊕ opad) || H((K' ⊕ ipad) || m))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HMAC 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840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813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  Message + Secret Key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9476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3840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1214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  XOR with ipad / opad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5877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743200"/>
            <a:ext cx="3840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7614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  Apply Hash Function (e.g. SHA-256)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227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3383280"/>
            <a:ext cx="3840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4015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  HMAC Output (tag)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8679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4023360"/>
            <a:ext cx="3840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40416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  Compare tags to verify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Digital Signatures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68680"/>
            <a:ext cx="411480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8696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✍  SIGNING  (Sender)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1.  Hash the message (e.g. SHA-256)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219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2.  Encrypt hash with PRIVATE key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889504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3522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3.  Attach signature to message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602736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6484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4.  Send message + signature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0520" y="2468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846320" y="86868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868680"/>
            <a:ext cx="4114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88696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VERIFYING  (Receiver)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1463040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5087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1.  Hash the received message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3480" y="2176272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2219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2.  Decrypt signature with PUBLIC key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2889504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93522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3.  Compare both hashes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3602736"/>
            <a:ext cx="384048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6484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4.  Match = Valid! Mismatch = Tampered!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AES Modes: GCM vs CBC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206240" cy="4069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14400"/>
            <a:ext cx="420624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32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AES-GCM  (Recommended)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Authenticated Encryption (AEAD)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4825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Provides confidentiality + integrity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5603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Generates Authentication Tag (16 bytes)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0723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Detects tampering automatically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5844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Parallelizable — very fast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0965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Unique IV (nonce) per encryption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206240" cy="406908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914400"/>
            <a:ext cx="42062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932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AES-CBC  (Has Vulnerabilities)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5361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  Encryption only — NO integrity check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04825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  Sequential blocks — slower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5603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  Requires padding (PKCS#7)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0723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</a:rPr>
              <a:t>⚠ PADDING ORACLE attacks possible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5844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</a:rPr>
              <a:t>⚠ BEAST attack (TLS 1.0 + CBC)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40965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  Must use separate MAC for integrity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AES-GCM: Code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4114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869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</a:rPr>
              <a:t>Python (cryptography library)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cryptography.hazmat.primitives.ciphers.aead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AESGCM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a 256-bit 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os.urandom(32)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a unique 12-byte nonce (IV)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nonce = os.urandom(12)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Additional data (authenticated, not encrypted)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aad = b"header-data"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cipher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aesgcm = AESGCM(key)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ENCRYPT → ciphertext + 16-byte auth tag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ciphertext = aesgcm.encrypt(nonce, b"secret msg", aad)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DECRYPT (raises exception if tag invalid)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plaintext = aesgcm.decrypt(nonce, ciphertext, aad)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86868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0" y="868680"/>
            <a:ext cx="32918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8869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GCM Output Structure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417320"/>
            <a:ext cx="31089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417320"/>
            <a:ext cx="73152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444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Nonce / IV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12 bytes — unique per encryption. Never reuse!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0" y="2240280"/>
            <a:ext cx="31089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2240280"/>
            <a:ext cx="73152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267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Ciphertext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Encrypted data (same length as plaintext)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0" y="3063240"/>
            <a:ext cx="31089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3063240"/>
            <a:ext cx="73152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090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Auth Tag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3337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16 bytes — verifies integrity. Decryption fails if tampered!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0" y="3886200"/>
            <a:ext cx="31089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3886200"/>
            <a:ext cx="73152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913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AAD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Additional Authenticated Data — signed but NOT encrypted (e.g. headers)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⚠  CBC Vulnerabilities Deep Dive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206240" cy="210312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14400"/>
            <a:ext cx="420624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3268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🩹 Padding Oracle Attack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Attacker modifies ciphertext blocks and observes server responses to determine if padding is valid. This leaks information about the plaintext — byte by byte!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CVE Examples: Lucky13, POODLE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Impact: Full plaintext recovery possible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21031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420624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3268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🦁 BEAST Attack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Browser Exploit Against SSL/TLS. Affects TLS 1.0 + CBC. The predictable IV allows a MITM attacker to decrypt HTTPS cookies.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Fixed in TLS 1.1+ (random IV)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Impact: Session hijacking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3154680"/>
            <a:ext cx="420624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3154680"/>
            <a:ext cx="4206240" cy="43891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17296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⚡ Bit-Flipping Attack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657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 CBC, flipping bits in ciphertext block N will predictably flip corresponding bits in plaintext block N+1.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Allows modifying plaintext without decrypting!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420624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154680"/>
            <a:ext cx="4206240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17296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Mitigations &amp; Best Practices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657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Use AES-GCM instead of AES-CBC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Always add MAC-then-Encrypt or use AEAD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Use TLS 1.2+ (disable CBC in TLS 1.0/1.1)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Never reuse IV/nonce values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Payload Encryption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Encrypting the HTTP request/response body — beyond what TLS provides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877824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encrypt payloads if we have TLS?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</a:rPr>
              <a:t>TLS secures transport only. Terminate TLS at load balancer → payload exposed internally. Payload encryption adds end-to-end protection.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920240"/>
            <a:ext cx="4206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920240"/>
            <a:ext cx="42062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93852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JWE (JSON Web Encryption)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Structure: header.key.iv.ciphertext.tag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Algorithms: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  Key wrap: RSA-OAEP, A256KW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  Content: A256GCM, A128CBC-HS256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Used in: OpenID Connect, FAPI APIs, banking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4206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920240"/>
            <a:ext cx="420624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93852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Best Practices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4505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Use AES-256-GCM for content encryption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82549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Rotate keys regularly (KMS/Vault)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32004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Include request ID in AAD to prevent replay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357530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Validate auth tag before processing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39502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Combine with TLS (defense in depth)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43251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Log decryption failures as security events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TLS vs SSL — What's the Difference?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14400"/>
            <a:ext cx="73152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509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SSL 1.0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9509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1994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95097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Never released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60520" y="95097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Serious design flaws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" y="1490472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490472"/>
            <a:ext cx="73152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270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SSL 2.0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152704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1995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15270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DEPRECATED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152704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DROWN attack, weak ciphers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066544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066544"/>
            <a:ext cx="73152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031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SSL 3.0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21031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1996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21031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DEPRECATED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60520" y="21031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POODLE attack, CBC vuln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2642616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2642616"/>
            <a:ext cx="73152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791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TLS 1.0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17320" y="267919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1999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26791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DEPRECATED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60520" y="267919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BEAST, POODLE, no strong ciphers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" y="3218688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3218688"/>
            <a:ext cx="73152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552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TLS 1.1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17320" y="325526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94560" y="32552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DEPRECATED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60520" y="325526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Deprecated 2021, use TLS 1.2+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82880" y="3794760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3794760"/>
            <a:ext cx="73152" cy="5120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83133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TLS 1.2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17320" y="383133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2008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94560" y="38313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ACCEPTED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383133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AES-GCM, SHA-256, AEAD support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82880" y="4370832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880" y="4370832"/>
            <a:ext cx="73152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4074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TLS 1.3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17320" y="440740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2018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194560" y="44074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✓✓ RECOMMENDED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60520" y="440740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0-RTT, fewer cipher suites, forward secrecy by default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TLS 1.3 Handshake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01168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326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914400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9326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1371600"/>
            <a:ext cx="0" cy="347472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1371600"/>
            <a:ext cx="0" cy="34747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1645920"/>
            <a:ext cx="676656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41732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44475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ClientHello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(supported ciphers, key share)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26680" y="15179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D"/>
                </a:solidFill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88720" y="2286000"/>
            <a:ext cx="67665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205740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06040" y="208483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ServerHello + Certificate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+ Finished (encrypted)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1579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88720" y="3017520"/>
            <a:ext cx="676656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278892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06040" y="281635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Finished (encrypted)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26680" y="2889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D"/>
                </a:solidFill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859536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93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↔  Application Data  (TLS connection established!)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TLS 1.3 advantage: Only 1 round-trip (1-RTT) vs TLS 1.2's 2-RTT. 0-RTT for resumption.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Quick Reference Cheat Sheet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4183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Encryption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96012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AES-256-GCM (symmetric), RSA-2048+ / ECDSA P-256 (asymmetric)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490472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51790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#️⃣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5361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Hashing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1536192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SHA-256 or SHA-3. Never MD5 or SHA-1 for security purposes.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066544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09397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1122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HMAC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2112264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HMAC-SHA256 for message authentication. Key size ≥ 256 bits.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642616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67004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26883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Digital Sig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2688336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RSA-PSS or ECDSA. Always verify before trusting data.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3218688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2461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2644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AES Mode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48840" y="3264408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Use GCM. Avoid CBC unless paired with HMAC. Never reuse nonce!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" y="3794760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82219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3840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48840" y="384048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Enforce TLS 1.2 minimum. Prefer TLS 1.3. Disable SSL + TLS 1.0/1.1.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" y="4370832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439826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44165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Payload Enc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48840" y="4416552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JWE with A256GCM. Use request IDs in AAD to prevent replay attacks.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🛠  Workshop Time!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2704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4533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Generate AES-GCM key, encrypt and decrypt a payload in 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67128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67128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85416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20370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Compute SHA-256 and HMAC-SHA256 of a message with a secret key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25496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25496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43784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86207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Create and verify a digital signature using RSA or ECDSA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483864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83864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50215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20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Demonstrate a Padding Oracle on a simple CBC-encrypted string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142232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142232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60520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17880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Inspect a TLS 1.3 handshake using Wireshark or openssl s_client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GCP Secret Manager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</a:rPr>
              <a:t>Centralized, encrypted secret storage on Google Cloud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20624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42062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24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Can You Store?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904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API Keys &amp; OAuth tokens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Database credentials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9476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TLS private keys &amp; certificates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1762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Encryption keys &amp; HMAC secrets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20624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05840"/>
            <a:ext cx="420624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24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4904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Automatic replication &amp; high availability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17190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IAM-based access control per secret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19476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Versioning &amp; automatic secret rotation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1762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Full audit logs via Cloud Audit Logs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" y="2542032"/>
            <a:ext cx="5029200" cy="2377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5694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B8A6"/>
                </a:solidFill>
              </a:rPr>
              <a:t>Python — Access a Secret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" y="2889504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google.cloud import secretmanager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secretmanager.SecretManagerServiceClient()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latest version of a secret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"projects/MY_PROJECT/secrets/db-password/versions/latest"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client.access_secret_version(request={"name": name})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secret_value = response.payload.data.decode("UTF-8")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it — NEVER log it!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94960" y="2542032"/>
            <a:ext cx="3566160" cy="23774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2542032"/>
            <a:ext cx="3566160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 Practices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0358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Never hardcode secrets in source code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33467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Use Workload Identity, not SA keys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3657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Enable secret rotation alerts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39684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Grant minimum IAM access roles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42793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Audit secret access regularly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45902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Separate secrets per environment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502920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CD34D"/>
                </a:solidFill>
              </a:rPr>
              <a:t>⚠  Never log or print secret values — treat them exactly like passwords.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</a:rPr>
              <a:t>Certificate Management &amp; CSR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How TLS certificates are created, signed, and managed correctly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1572768" cy="40233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698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5179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Generate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Private Key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744" y="1920240"/>
            <a:ext cx="1463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openssl genrsa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-out private.key 4096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NEVER share this!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19072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56816" y="105156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56816" y="1051560"/>
            <a:ext cx="1572768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56816" y="10698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11680" y="15179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Create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CSR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11680" y="1920240"/>
            <a:ext cx="1463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openssl req -new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-key private.key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-out request.csr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93008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30752" y="105156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30752" y="1051560"/>
            <a:ext cx="1572768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10698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85616" y="15179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Submit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to CA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85616" y="1920240"/>
            <a:ext cx="1463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Send CSR to: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DigiCert / Let's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Encrypt / GCP CAS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66944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04688" y="105156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04688" y="1051560"/>
            <a:ext cx="1572768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4688" y="10698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59552" y="15179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Receive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Certificate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59552" y="1920240"/>
            <a:ext cx="1463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 signs CSR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Issues .crt file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Contains public key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4088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78624" y="1051560"/>
            <a:ext cx="15727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78624" y="1051560"/>
            <a:ext cx="157276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78624" y="1069848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33488" y="15179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Deploy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&amp; Renew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33488" y="1920240"/>
            <a:ext cx="1463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Install cert + key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 auto-renewal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(90-day certs)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2880" y="30632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" y="3063240"/>
            <a:ext cx="4206240" cy="40233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0815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What's Inside a CSR?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0040" y="35478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▸  CN (Common Name): api.example.com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040" y="38039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▸  SAN: Subject Alternative Names (multi-domain)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40599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▸  O / OU: Organization &amp; Department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20040" y="43159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▸  Public Key: Derived from your private key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0040" y="45720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▸  Signature: Proves possession of private key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30632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3063240"/>
            <a:ext cx="420624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0815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🔑  Private Key Rules — Critical!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92040" y="35478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⚠  NEVER include in code repositories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92040" y="38039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⚠  NEVER send with CSR or to anyone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2040" y="40599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⚠  Store in HSM, Vault, or Secret Manager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92040" y="43159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⚠  Restrict file permissions: chmod 400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92040" y="45720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⚠  If breached → revoke certificate IMMEDIATELY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🚨  Private Key Breach — What Happens?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83464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28346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41248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🕵️  Man-in-the-Middle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Attacker impersonates your server with the stolen key. All TLS traffic can be intercepted and decrypted in real-time — completely invisible to users.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3145536"/>
            <a:ext cx="265176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1455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Impact: Full traffic decryption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72968" y="822960"/>
            <a:ext cx="283464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822960"/>
            <a:ext cx="283464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841248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📼  Retrospective Decryption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1353312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Without TLS forward secrecy, an attacker who recorded past encrypted traffic can now decrypt it all using the leaked private key.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4408" y="3145536"/>
            <a:ext cx="265176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31455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Impact: Historical data exposure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63056" y="822960"/>
            <a:ext cx="283464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822960"/>
            <a:ext cx="2834640" cy="4572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841248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🎭  Server Impersonation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4496" y="1353312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Attacker hosts a fake server with your valid certificate. Users see no browser warnings — the connection is fully trusted by all clients.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54496" y="3145536"/>
            <a:ext cx="2651760" cy="1828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31455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Impact: Credential theft &amp; fraud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456432"/>
            <a:ext cx="87782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474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🚨  INCIDENT RESPONSE TIMELINE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" y="3931920"/>
            <a:ext cx="1664208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395935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T+0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" y="422452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Revoke cert immediately (OCSP/CRL)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956816" y="3931920"/>
            <a:ext cx="1664208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56816" y="395935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T+1h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11680" y="422452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Generate new private key &amp; CSR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30752" y="3931920"/>
            <a:ext cx="1664208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395935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T+2h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85616" y="422452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Issue new cert from CA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04688" y="3931920"/>
            <a:ext cx="1664208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4688" y="395935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T+3h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59552" y="422452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Deploy new cert, rotate all secrets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78624" y="3931920"/>
            <a:ext cx="1664208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78624" y="395935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T+4h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33488" y="422452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Audit logs &amp; notify affected parties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4B8A6"/>
                </a:solidFill>
              </a:rPr>
              <a:t>Demo: openssl verify cert | simulate MITM with mitmproxy | check OCSP revocation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</a:rPr>
              <a:t>Demo: Private Key Breach Scenarios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206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4206240" cy="40233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Demo 1 — Key Exposure Check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" y="1261872"/>
            <a:ext cx="40599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private key matches certificate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x509 -noout -modulus -in cert.crt | md5sum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rsa  -noout -modulus -in private.key | md5sum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Matching hashes = correct key/cert pair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Scan git history for leaked keys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--all --full-history -- "*.key" "*.pem"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trufflehog git file://. --only-verified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206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04672"/>
            <a:ext cx="42062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Demo 2 — Revocation Check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1261872"/>
            <a:ext cx="40599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OCSP revocation status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ocsp -issuer chain.crt -cert cert.crt \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-url http://ocsp.example.com -resp_text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full certificate chain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verify -CAfile ca-bundle.crt cert.crt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cert expiry date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x509 -enddate -noout -in cert.crt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182880" y="299923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999232"/>
            <a:ext cx="4206240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Demo 3 — MITM with mitmproxy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" y="3456432"/>
            <a:ext cx="405993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Intercept TLS with stolen key + cert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mitmdump --cert leaked_private.key \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--cert leaked_cert.pem --mode transparent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Client sees valid cert — NO warning shown!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Attacker sees ALL plaintext traffic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Forward secrecy (TLS 1.3) would prevent this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754880" y="299923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99232"/>
            <a:ext cx="420624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Prevention Checklist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4930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✓  Use TLS 1.3 (forward secrecy by default)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37398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✓  Store private keys in HSM / Secret Manager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398678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✓  Add *.key and *.pem to .gitignore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42336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✓  Run secret scanners in CI/CD pipelines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4480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✓  Enable Certificate Transparency monitoring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472744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✓  Use short-lived certs (90 days) + auto-renew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Document Authors &amp; Reviewers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4206240" cy="3977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68680"/>
            <a:ext cx="42062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8696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✍  Authors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886200" cy="896112"/>
          </a:xfrm>
          <a:prstGeom prst="rect">
            <a:avLst/>
          </a:prstGeom>
          <a:solidFill>
            <a:srgbClr val="16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48132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99616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Author Name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7556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Security Engineer  |  InfoSec Team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96312"/>
            <a:ext cx="3886200" cy="896112"/>
          </a:xfrm>
          <a:prstGeom prst="rect">
            <a:avLst/>
          </a:prstGeom>
          <a:solidFill>
            <a:srgbClr val="16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56032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78608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Author Name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834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Cloud Architect  |  Platform Team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575304"/>
            <a:ext cx="3886200" cy="896112"/>
          </a:xfrm>
          <a:prstGeom prst="rect">
            <a:avLst/>
          </a:prstGeom>
          <a:solidFill>
            <a:srgbClr val="16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639312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65760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36210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Author Name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913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Lead Developer  |  Engineering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4206240" cy="3977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868680"/>
            <a:ext cx="420624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88696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🔍  Reviewers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1417320"/>
            <a:ext cx="3886200" cy="896112"/>
          </a:xfrm>
          <a:prstGeom prst="rect">
            <a:avLst/>
          </a:prstGeom>
          <a:solidFill>
            <a:srgbClr val="162A4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1481328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499616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66928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Reviewer Name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17556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CISO  |  Security Leadership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496312"/>
            <a:ext cx="3886200" cy="896112"/>
          </a:xfrm>
          <a:prstGeom prst="rect">
            <a:avLst/>
          </a:prstGeom>
          <a:solidFill>
            <a:srgbClr val="162A4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2560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578608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669280" y="2542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Reviewer Name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2834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Security Architect  |  InfoSec Team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575304"/>
            <a:ext cx="3886200" cy="896112"/>
          </a:xfrm>
          <a:prstGeom prst="rect">
            <a:avLst/>
          </a:prstGeom>
          <a:solidFill>
            <a:srgbClr val="162A4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83480" y="3639312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657600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669280" y="36210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Reviewer Name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69280" y="3913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Compliance Officer  |  Legal &amp;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347472"/>
            <a:ext cx="34747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834640" y="365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500" kern="0" dirty="0">
                <a:solidFill>
                  <a:srgbClr val="FFFFFF"/>
                </a:solidFill>
              </a:rPr>
              <a:t>abcAI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Information Security Team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Securing the future of intelligent systems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2084832"/>
            <a:ext cx="4206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2176272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220370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 Security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Secure SDLC, code review, SAST/DAST, threat modeling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084832"/>
            <a:ext cx="4206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176272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40680" y="220370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Cloud Security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2560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GCP IAM, VPC controls, Secret Manager, SCC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319272"/>
            <a:ext cx="4206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" y="3410712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43814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Cryptography &amp; PKI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794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Key management, certificate lifecycle, encryption standards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319272"/>
            <a:ext cx="4206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3410712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40680" y="343814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Compliance &amp; Risk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794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ISO 27001, SOC 2, GDPR, vulnerability management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📧  infosec@abcai.com   |   🌐  security.abcai.com   |   💬  #infosec-team (Slack)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Cryptography &amp; Security Workshop</dc:title>
  <dc:subject>PptxGenJS Presentation</dc:subject>
  <dc:creator>PptxGenJS</dc:creator>
  <cp:lastModifiedBy>PptxGenJS</cp:lastModifiedBy>
  <cp:revision>1</cp:revision>
  <dcterms:created xsi:type="dcterms:W3CDTF">2026-02-22T04:59:45Z</dcterms:created>
  <dcterms:modified xsi:type="dcterms:W3CDTF">2026-02-22T04:59:45Z</dcterms:modified>
</cp:coreProperties>
</file>